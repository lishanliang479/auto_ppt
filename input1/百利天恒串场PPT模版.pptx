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3"/>
    <p:sldId id="258" r:id="rId4"/>
    <p:sldId id="257" r:id="rId5"/>
    <p:sldId id="260" r:id="rId6"/>
    <p:sldId id="261" r:id="rId7"/>
    <p:sldId id="262" r:id="rId8"/>
    <p:sldId id="263" r:id="rId9"/>
    <p:sldId id="291" r:id="rId10"/>
    <p:sldId id="264" r:id="rId11"/>
    <p:sldId id="286" r:id="rId12"/>
    <p:sldId id="287" r:id="rId13"/>
    <p:sldId id="289" r:id="rId1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3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5690"/>
    <a:srgbClr val="3D4F9B"/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3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9" Type="http://schemas.openxmlformats.org/officeDocument/2006/relationships/tableStyles" Target="tableStyles.xml"/><Relationship Id="rId18" Type="http://schemas.openxmlformats.org/officeDocument/2006/relationships/viewProps" Target="viewProps.xml"/><Relationship Id="rId17" Type="http://schemas.openxmlformats.org/officeDocument/2006/relationships/presProps" Target="presProps.xml"/><Relationship Id="rId16" Type="http://schemas.openxmlformats.org/officeDocument/2006/relationships/handoutMaster" Target="handoutMasters/handoutMaster1.xml"/><Relationship Id="rId15" Type="http://schemas.openxmlformats.org/officeDocument/2006/relationships/notesMaster" Target="notesMasters/notesMaster1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5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68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67.xml"/><Relationship Id="rId1" Type="http://schemas.openxmlformats.org/officeDocument/2006/relationships/tags" Target="../tags/tag66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2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tags" Target="../tags/tag71.xml"/><Relationship Id="rId3" Type="http://schemas.openxmlformats.org/officeDocument/2006/relationships/image" Target="../media/image1.jpeg"/><Relationship Id="rId2" Type="http://schemas.openxmlformats.org/officeDocument/2006/relationships/tags" Target="../tags/tag70.xml"/><Relationship Id="rId1" Type="http://schemas.openxmlformats.org/officeDocument/2006/relationships/tags" Target="../tags/tag69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76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5.png"/><Relationship Id="rId4" Type="http://schemas.openxmlformats.org/officeDocument/2006/relationships/tags" Target="../tags/tag75.xml"/><Relationship Id="rId3" Type="http://schemas.openxmlformats.org/officeDocument/2006/relationships/image" Target="../media/image1.jpeg"/><Relationship Id="rId2" Type="http://schemas.openxmlformats.org/officeDocument/2006/relationships/tags" Target="../tags/tag74.xml"/><Relationship Id="rId1" Type="http://schemas.openxmlformats.org/officeDocument/2006/relationships/tags" Target="../tags/tag73.xml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79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78.xml"/><Relationship Id="rId1" Type="http://schemas.openxmlformats.org/officeDocument/2006/relationships/tags" Target="../tags/tag77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83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6.png"/><Relationship Id="rId4" Type="http://schemas.openxmlformats.org/officeDocument/2006/relationships/tags" Target="../tags/tag82.xml"/><Relationship Id="rId3" Type="http://schemas.openxmlformats.org/officeDocument/2006/relationships/image" Target="../media/image1.jpeg"/><Relationship Id="rId2" Type="http://schemas.openxmlformats.org/officeDocument/2006/relationships/tags" Target="../tags/tag81.xml"/><Relationship Id="rId1" Type="http://schemas.openxmlformats.org/officeDocument/2006/relationships/tags" Target="../tags/tag80.xml"/></Relationships>
</file>

<file path=ppt/slides/_rels/slide7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6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85.xml"/><Relationship Id="rId1" Type="http://schemas.openxmlformats.org/officeDocument/2006/relationships/tags" Target="../tags/tag84.xml"/></Relationships>
</file>

<file path=ppt/slides/_rels/slide8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89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88.xml"/><Relationship Id="rId1" Type="http://schemas.openxmlformats.org/officeDocument/2006/relationships/tags" Target="../tags/tag87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93.xml"/><Relationship Id="rId7" Type="http://schemas.openxmlformats.org/officeDocument/2006/relationships/image" Target="../media/image7.png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tags" Target="../tags/tag92.xml"/><Relationship Id="rId3" Type="http://schemas.openxmlformats.org/officeDocument/2006/relationships/image" Target="../media/image1.jpeg"/><Relationship Id="rId2" Type="http://schemas.openxmlformats.org/officeDocument/2006/relationships/tags" Target="../tags/tag91.xml"/><Relationship Id="rId1" Type="http://schemas.openxmlformats.org/officeDocument/2006/relationships/tags" Target="../tags/tag90.xml"/></Relationships>
</file>

<file path=ppt/slides/_rels/slide10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96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tags" Target="../tags/tag100.xml"/><Relationship Id="rId7" Type="http://schemas.openxmlformats.org/officeDocument/2006/relationships/image" Target="../media/image3.png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tags" Target="../tags/tag99.xml"/><Relationship Id="rId3" Type="http://schemas.openxmlformats.org/officeDocument/2006/relationships/image" Target="../media/image1.jpe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12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103.xml"/><Relationship Id="rId5" Type="http://schemas.openxmlformats.org/officeDocument/2006/relationships/image" Target="../media/image3.png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102.xml"/><Relationship Id="rId1" Type="http://schemas.openxmlformats.org/officeDocument/2006/relationships/tags" Target="../tags/tag10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526665" y="2722245"/>
            <a:ext cx="7177405" cy="706755"/>
          </a:xfrm>
          <a:prstGeom prst="rect">
            <a:avLst/>
          </a:prstGeom>
        </p:spPr>
        <p:txBody>
          <a:bodyPr wrap="square" rtlCol="0" anchor="t">
            <a:spAutoFit/>
          </a:bodyPr>
          <a:p>
            <a:pPr algn="ctr">
              <a:buClrTx/>
              <a:buSzTx/>
              <a:buNone/>
            </a:pPr>
            <a:r>
              <a:rPr lang="zh-CN" altLang="en-US" sz="40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40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40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40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4000" b="1" kern="0" spc="230" dirty="0">
              <a:ln w="6773"/>
              <a:solidFill>
                <a:srgbClr val="435690">
                  <a:alpha val="100000"/>
                </a:srgbClr>
              </a:solidFill>
              <a:effectLst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67685" y="4002405"/>
            <a:ext cx="609600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lang="zh-CN" altLang="en-US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2026年0</a:t>
            </a:r>
            <a:r>
              <a:rPr lang="en-US" altLang="zh-CN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月2</a:t>
            </a:r>
            <a:r>
              <a:rPr lang="en-US" altLang="zh-CN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日</a:t>
            </a:r>
            <a:r>
              <a:rPr lang="en-US" altLang="zh-CN" sz="24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400" b="1">
              <a:ln w="6773"/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pic>
        <p:nvPicPr>
          <p:cNvPr id="12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6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50540" y="216471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kumimoji="1" lang="zh-CN" altLang="en-US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席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致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辞</a:t>
            </a:r>
            <a:endParaRPr kumimoji="1" lang="zh-CN" altLang="en-US" sz="72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310448" y="3894455"/>
            <a:ext cx="7571105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韩淑梅  教授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sz="2800" b="1" kern="0" spc="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  <a:buClrTx/>
              <a:buSzTx/>
              <a:buFontTx/>
            </a:pP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杨正强  教授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6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0710" y="1275080"/>
            <a:ext cx="10989945" cy="51415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4"/>
            </p:custDataLst>
          </p:nvPr>
        </p:nvSpPr>
        <p:spPr>
          <a:xfrm>
            <a:off x="1382777" y="1903095"/>
            <a:ext cx="2158365" cy="2876550"/>
          </a:xfrm>
          <a:prstGeom prst="roundRect">
            <a:avLst>
              <a:gd name="adj" fmla="val 17402"/>
            </a:avLst>
          </a:prstGeom>
          <a:gradFill flip="none" rotWithShape="1"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 descr="E:/韩.png韩"/>
          <p:cNvPicPr>
            <a:picLocks noChangeAspect="1" noChangeArrowheads="1"/>
          </p:cNvPicPr>
          <p:nvPr/>
        </p:nvPicPr>
        <p:blipFill rotWithShape="1">
          <a:blip r:embed="rId5"/>
          <a:srcRect l="27763" t="7550" r="33307" b="58143"/>
          <a:stretch>
            <a:fillRect/>
          </a:stretch>
        </p:blipFill>
        <p:spPr bwMode="auto">
          <a:xfrm>
            <a:off x="1383030" y="1903095"/>
            <a:ext cx="2158365" cy="28797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740427" y="490644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24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韩淑梅</a:t>
            </a:r>
            <a:r>
              <a:rPr lang="en-US" altLang="zh-CN" sz="2400" b="1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endParaRPr lang="en-US" altLang="zh-CN" sz="24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sz="1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sz="1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8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 descr="亚健康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11" name="矩形: 圆角 11"/>
          <p:cNvSpPr/>
          <p:nvPr/>
        </p:nvSpPr>
        <p:spPr>
          <a:xfrm>
            <a:off x="1726480" y="1417173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大会主席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文本框 12"/>
          <p:cNvSpPr txBox="1"/>
          <p:nvPr/>
        </p:nvSpPr>
        <p:spPr>
          <a:xfrm>
            <a:off x="4356100" y="1156335"/>
            <a:ext cx="7342505" cy="51625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山东第一医科大学附属肿瘤医院消化内科三病区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科主任</a:t>
            </a:r>
            <a:endParaRPr kumimoji="0" lang="en-US" altLang="zh-CN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副主任医师、医学博士、博士后、硕士生导师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国家二级心理咨询师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山东第一医科大学附属肿瘤医院胃癌多学科诊疗专家组成员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中国抗癌协会肿瘤支持治疗专业委员会委员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中国临床肿瘤学会肿瘤支持与康复治疗专家委员会委员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中国麻醉药品协会合理用药分会理事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山东省转化医学学会消化道肿瘤治疗分会副主任委员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山东省中医药学会肿瘤免疫治疗分会副主任委员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山东省医学会行为医学青年学组委员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山东省医师协会肿瘤化疗医师分会委员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山东省抗癌协会大肠癌分会委员会委员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山东省抗癌协会姑息治疗分会委员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山东省疼痛医学会肿瘤放射治疗专业委员会委员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0710" y="1275080"/>
            <a:ext cx="10989945" cy="51415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>
            <p:custDataLst>
              <p:tags r:id="rId4"/>
            </p:custDataLst>
          </p:nvPr>
        </p:nvSpPr>
        <p:spPr>
          <a:xfrm>
            <a:off x="1382777" y="1903095"/>
            <a:ext cx="2158365" cy="2876550"/>
          </a:xfrm>
          <a:prstGeom prst="roundRect">
            <a:avLst>
              <a:gd name="adj" fmla="val 17402"/>
            </a:avLst>
          </a:prstGeom>
          <a:gradFill flip="none" rotWithShape="1"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: 圆角 11"/>
          <p:cNvSpPr/>
          <p:nvPr/>
        </p:nvSpPr>
        <p:spPr>
          <a:xfrm>
            <a:off x="1726480" y="1417173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大会主持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740427" y="490644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2400" b="1" dirty="0">
                <a:solidFill>
                  <a:srgbClr val="435690"/>
                </a:solidFill>
                <a:sym typeface="+mn-ea"/>
              </a:rPr>
              <a:t>高</a:t>
            </a:r>
            <a:r>
              <a:rPr lang="en-US" altLang="zh-CN" sz="2400" b="1" dirty="0">
                <a:solidFill>
                  <a:srgbClr val="435690"/>
                </a:solidFill>
                <a:sym typeface="+mn-ea"/>
              </a:rPr>
              <a:t>  </a:t>
            </a:r>
            <a:r>
              <a:rPr lang="zh-CN" altLang="en-US" sz="2400" b="1" dirty="0">
                <a:solidFill>
                  <a:srgbClr val="435690"/>
                </a:solidFill>
                <a:sym typeface="+mn-ea"/>
              </a:rPr>
              <a:t>敏</a:t>
            </a:r>
            <a:r>
              <a:rPr lang="en-US" altLang="zh-CN" sz="2400" b="1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endParaRPr lang="en-US" altLang="zh-CN" sz="24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sz="1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zh-CN" altLang="en-US" sz="18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 descr="E:/高.png高"/>
          <p:cNvPicPr>
            <a:picLocks noChangeAspect="1" noChangeArrowheads="1"/>
          </p:cNvPicPr>
          <p:nvPr/>
        </p:nvPicPr>
        <p:blipFill rotWithShape="1">
          <a:blip r:embed="rId5"/>
          <a:srcRect l="25481" r="17838" b="40071"/>
          <a:stretch>
            <a:fillRect/>
          </a:stretch>
        </p:blipFill>
        <p:spPr bwMode="auto">
          <a:xfrm>
            <a:off x="1383030" y="1573530"/>
            <a:ext cx="2158365" cy="320675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4356100" y="1156335"/>
            <a:ext cx="7342505" cy="51625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indent="0" fontAlgn="auto">
              <a:lnSpc>
                <a:spcPct val="120000"/>
              </a:lnSpc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胸部放疗七病区（特需）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</a:t>
            </a:r>
            <a:endParaRPr lang="zh-CN" sz="1600" b="1" dirty="0">
              <a:latin typeface="等线" panose="02010600030101010101" pitchFamily="2" charset="-122"/>
              <a:ea typeface="等线" panose="02010600030101010101" pitchFamily="2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博士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</a:t>
            </a: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医师</a:t>
            </a:r>
            <a:r>
              <a:rPr 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硕士生导师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2010年毕业于德国海德堡大学医学院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擅长</a:t>
            </a:r>
            <a:r>
              <a:rPr lang="zh-CN" sz="1600" b="1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乳腺</a:t>
            </a:r>
            <a:r>
              <a:rPr lang="zh-CN" altLang="en-US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放疗为主的</a:t>
            </a:r>
            <a:r>
              <a:rPr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综合治疗</a:t>
            </a:r>
            <a:endParaRPr sz="1600" b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中国医师协会放疗分会乳腺癌学组委员</a:t>
            </a:r>
            <a:endParaRPr lang="zh-CN" sz="1600" b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中华医学会放射肿瘤治疗学分会乳腺学组委员</a:t>
            </a:r>
            <a:endParaRPr sz="1600" b="1" smtClean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山东省抗癌协会肿瘤异质性与个体化治疗分会第一届委员会</a:t>
            </a:r>
            <a:r>
              <a:rPr lang="zh-CN" altLang="en-US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常委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山东省青年医务工作者协会乳腺肿瘤多学科诊疗分会常委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山东省抗癌协会中西医结合分会常委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山东省青年医务工作者协会肿瘤放射治疗分会常委</a:t>
            </a:r>
            <a:endParaRPr lang="zh-CN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山东省科学技术进步二等奖、山东省医学科技二等奖各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参与国家重点研发</a:t>
            </a: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计划</a:t>
            </a:r>
            <a:r>
              <a:rPr lang="zh-CN" altLang="en-US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项目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1600" b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参与国家自然科学基金面上项目</a:t>
            </a:r>
            <a:r>
              <a:rPr 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主持</a:t>
            </a:r>
            <a:r>
              <a:rPr lang="zh-CN" sz="1600" b="1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山东省自然科学基金等</a:t>
            </a:r>
            <a:r>
              <a:rPr sz="1600" b="1" dirty="0" err="1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省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市级</a:t>
            </a:r>
            <a:r>
              <a:rPr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课题</a:t>
            </a:r>
            <a:r>
              <a:rPr 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发表论文20</a:t>
            </a:r>
            <a:r>
              <a:rPr 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余</a:t>
            </a: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篇，其中第一作者或通讯作者发表SCI</a:t>
            </a:r>
            <a:r>
              <a:rPr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论文</a:t>
            </a:r>
            <a:r>
              <a:rPr lang="en-US" altLang="zh-CN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10</a:t>
            </a:r>
            <a:r>
              <a:rPr lang="zh-CN" altLang="en-US"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余</a:t>
            </a:r>
            <a:r>
              <a:rPr sz="1600" b="1" dirty="0" smtClean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篇</a:t>
            </a:r>
            <a:endParaRPr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20000"/>
              </a:lnSpc>
            </a:pP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授权国家发明专利</a:t>
            </a:r>
            <a:r>
              <a:rPr 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亚健康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8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352040" y="3894455"/>
            <a:ext cx="748792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sz="28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李</a:t>
            </a:r>
            <a:r>
              <a:rPr lang="en-US" sz="28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8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骥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教授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文本框 7"/>
          <p:cNvSpPr txBox="1"/>
          <p:nvPr/>
        </p:nvSpPr>
        <p:spPr>
          <a:xfrm>
            <a:off x="2540" y="2050680"/>
            <a:ext cx="12192000" cy="1400175"/>
          </a:xfrm>
          <a:prstGeom prst="rect">
            <a:avLst/>
          </a:prstGeom>
          <a:noFill/>
        </p:spPr>
        <p:txBody>
          <a:bodyPr wrap="square" rtlCol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kumimoji="1" lang="zh-CN" altLang="en-US" sz="4400" b="1" kern="0" spc="-20" dirty="0">
                <a:ln w="12700">
                  <a:noFill/>
                  <a:prstDash val="solid"/>
                </a:ln>
                <a:solidFill>
                  <a:srgbClr val="435690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双抗</a:t>
            </a:r>
            <a:r>
              <a:rPr kumimoji="1" lang="en-US" altLang="zh-CN" sz="4400" b="1" kern="0" spc="-20" dirty="0">
                <a:ln w="12700">
                  <a:noFill/>
                  <a:prstDash val="solid"/>
                </a:ln>
                <a:solidFill>
                  <a:srgbClr val="435690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ADC-</a:t>
            </a:r>
            <a:r>
              <a:rPr kumimoji="1" lang="zh-CN" altLang="en-US" sz="4400" b="1" kern="0" spc="-20" dirty="0">
                <a:ln w="12700">
                  <a:noFill/>
                  <a:prstDash val="solid"/>
                </a:ln>
                <a:solidFill>
                  <a:srgbClr val="435690">
                    <a:alpha val="100000"/>
                  </a:srgbClr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点亮生命新“食”光</a:t>
            </a:r>
            <a:endParaRPr kumimoji="1" lang="zh-CN" altLang="en-US" sz="4400" b="1" kern="0" spc="-20" dirty="0">
              <a:ln w="12700">
                <a:noFill/>
                <a:prstDash val="solid"/>
              </a:ln>
              <a:solidFill>
                <a:srgbClr val="435690">
                  <a:alpha val="100000"/>
                </a:srgbClr>
              </a:solidFill>
              <a:effectLst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0710" y="1275080"/>
            <a:ext cx="10989945" cy="51415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>
            <p:custDataLst>
              <p:tags r:id="rId4"/>
            </p:custDataLst>
          </p:nvPr>
        </p:nvSpPr>
        <p:spPr>
          <a:xfrm>
            <a:off x="1382777" y="1903095"/>
            <a:ext cx="2158365" cy="2876550"/>
          </a:xfrm>
          <a:prstGeom prst="roundRect">
            <a:avLst>
              <a:gd name="adj" fmla="val 17402"/>
            </a:avLst>
          </a:prstGeom>
          <a:gradFill flip="none" rotWithShape="1"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: 圆角 11"/>
          <p:cNvSpPr/>
          <p:nvPr/>
        </p:nvSpPr>
        <p:spPr>
          <a:xfrm>
            <a:off x="1726480" y="1417173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大会讲者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740427" y="490644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24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李</a:t>
            </a:r>
            <a:r>
              <a:rPr lang="en-US" sz="24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4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骥</a:t>
            </a:r>
            <a:r>
              <a:rPr lang="en-US" altLang="zh-CN" sz="2400" b="1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endParaRPr lang="en-US" altLang="zh-CN" sz="24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sz="1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zh-CN" altLang="en-US" sz="18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8" name="图片 7" descr="E:/李.png李"/>
          <p:cNvPicPr>
            <a:picLocks noChangeAspect="1" noChangeArrowheads="1"/>
          </p:cNvPicPr>
          <p:nvPr/>
        </p:nvPicPr>
        <p:blipFill rotWithShape="1">
          <a:blip r:embed="rId5"/>
          <a:srcRect l="2842" r="2920" b="17505"/>
          <a:stretch>
            <a:fillRect/>
          </a:stretch>
        </p:blipFill>
        <p:spPr bwMode="auto">
          <a:xfrm>
            <a:off x="1383030" y="2134235"/>
            <a:ext cx="2158365" cy="264541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文本框 12"/>
          <p:cNvSpPr txBox="1"/>
          <p:nvPr/>
        </p:nvSpPr>
        <p:spPr>
          <a:xfrm>
            <a:off x="4356100" y="1156335"/>
            <a:ext cx="7342505" cy="51625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150000"/>
              </a:lnSpc>
            </a:pP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胸部放疗六病区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中共党员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副研究员</a:t>
            </a:r>
            <a:r>
              <a:rPr kumimoji="1" lang="en-US" altLang="zh-CN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硕士研究生导师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武汉大学肿瘤学博士、博士后</a:t>
            </a:r>
            <a:endParaRPr kumimoji="1" lang="zh-CN" altLang="en-US" sz="1600" b="1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泰山学者青年专家</a:t>
            </a:r>
            <a:endParaRPr lang="zh-CN" altLang="en-US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主持国家自然科学基金青年项目</a:t>
            </a:r>
            <a:r>
              <a:rPr lang="en-US" altLang="zh-CN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lang="zh-CN" altLang="en-US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主持山东省自然科学基金青年项目</a:t>
            </a:r>
            <a:r>
              <a:rPr lang="en-US" altLang="zh-CN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lang="zh-CN" altLang="en-US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入选山东省博士后创新人才支持计划</a:t>
            </a:r>
            <a:endParaRPr lang="zh-CN" altLang="en-US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获山东省科技进步二等奖</a:t>
            </a:r>
            <a:r>
              <a:rPr lang="en-US" altLang="zh-CN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项</a:t>
            </a:r>
            <a:endParaRPr lang="en-US" altLang="zh-CN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在</a:t>
            </a:r>
            <a:r>
              <a:rPr lang="en-US" altLang="zh-CN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Cancer Letters</a:t>
            </a: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、J Clin Endocrinol Metab等杂志发表</a:t>
            </a:r>
            <a:r>
              <a:rPr lang="en-US" altLang="zh-CN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SCI</a:t>
            </a:r>
            <a:r>
              <a:rPr lang="zh-CN" altLang="en-US" sz="1600" b="1" kern="100" dirty="0"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文章多篇</a:t>
            </a:r>
            <a:endParaRPr lang="en-US" altLang="zh-CN" sz="1600" b="1" kern="100" dirty="0">
              <a:effectLst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担任</a:t>
            </a:r>
            <a:r>
              <a:rPr kumimoji="1" lang="en-US" altLang="zh-CN" sz="1600" b="1" kern="1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Frontiers </a:t>
            </a:r>
            <a:r>
              <a:rPr kumimoji="1" lang="zh-CN" altLang="en-US" sz="1600" b="1" kern="100" dirty="0" err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系列杂志</a:t>
            </a:r>
            <a:r>
              <a:rPr kumimoji="1" lang="zh-CN" altLang="en-US" sz="1600" b="1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审稿人</a:t>
            </a:r>
            <a:endParaRPr kumimoji="1" lang="zh-CN" altLang="en-US" sz="1600" b="1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kumimoji="1" lang="zh-CN" altLang="en-US" sz="1600" b="1" kern="100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山东省青年医务工作者协会肿瘤放射治疗分会委员</a:t>
            </a:r>
            <a:endParaRPr kumimoji="1" lang="zh-CN" altLang="en-US" sz="1600" b="1" kern="100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0" name="图片 9" descr="亚健康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8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2173288" y="3450590"/>
            <a:ext cx="7845425" cy="267652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ct val="150000"/>
              </a:lnSpc>
            </a:pPr>
            <a:r>
              <a:rPr 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李晓倩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教授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</a:t>
            </a:r>
            <a:endParaRPr sz="2800" kern="0" spc="-2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彭洁琼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教授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</a:t>
            </a:r>
            <a:endParaRPr sz="2800" kern="0" spc="-2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王明磊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教授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</a:t>
            </a:r>
            <a:endParaRPr sz="2800" kern="0" spc="-2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  <a:p>
            <a:pPr indent="0" algn="l" fontAlgn="auto">
              <a:lnSpc>
                <a:spcPct val="150000"/>
              </a:lnSpc>
            </a:pPr>
            <a:r>
              <a:rPr 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赵凯凯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lang="zh-CN" altLang="en-US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教授</a:t>
            </a:r>
            <a:r>
              <a:rPr lang="en-US" altLang="zh-CN" sz="2800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  </a:t>
            </a:r>
            <a:r>
              <a:rPr sz="2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en-US" altLang="zh-CN" sz="2800" kern="0" spc="-2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文本框 7"/>
          <p:cNvSpPr txBox="1"/>
          <p:nvPr/>
        </p:nvSpPr>
        <p:spPr>
          <a:xfrm>
            <a:off x="2540" y="2050680"/>
            <a:ext cx="12192000" cy="1400175"/>
          </a:xfrm>
          <a:prstGeom prst="rect">
            <a:avLst/>
          </a:prstGeom>
          <a:noFill/>
        </p:spPr>
        <p:txBody>
          <a:bodyPr wrap="square" rtlCol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zh-CN" sz="48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讨论环节</a:t>
            </a:r>
            <a:endParaRPr kumimoji="1" lang="zh-CN" sz="4800" b="1" kern="0" spc="-20" dirty="0">
              <a:ln w="12700">
                <a:noFill/>
                <a:prstDash val="solid"/>
              </a:ln>
              <a:solidFill>
                <a:srgbClr val="435690">
                  <a:alpha val="100000"/>
                </a:srgbClr>
              </a:solidFill>
              <a:effectLst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8" name="文本框 7"/>
          <p:cNvSpPr txBox="1"/>
          <p:nvPr/>
        </p:nvSpPr>
        <p:spPr>
          <a:xfrm>
            <a:off x="911860" y="1842770"/>
            <a:ext cx="10455910" cy="1400175"/>
          </a:xfrm>
          <a:prstGeom prst="rect">
            <a:avLst/>
          </a:prstGeom>
          <a:noFill/>
        </p:spPr>
        <p:txBody>
          <a:bodyPr wrap="square" rtlCol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indent="0" algn="l" fontAlgn="auto">
              <a:lnSpc>
                <a:spcPts val="2400"/>
              </a:lnSpc>
            </a:pPr>
            <a:r>
              <a:rPr lang="zh-CN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一、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作为全球首个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EGFR×HER3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双抗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ADC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，在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III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期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PANKU-Esophagus01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研究中达到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PFS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、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OS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双终点阳性，用于食管鳞癌二线治疗的中位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OS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达到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9.79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个月，中位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PFS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达到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4.17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个月，均显著优于化疗。基于上述证据，您认为：</a:t>
            </a:r>
            <a:endParaRPr lang="zh-CN" altLang="zh-CN" sz="1600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 fontAlgn="auto">
              <a:lnSpc>
                <a:spcPts val="2400"/>
              </a:lnSpc>
            </a:pPr>
            <a:r>
              <a:rPr lang="en-US" altLang="zh-CN" sz="16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①</a:t>
            </a:r>
            <a:r>
              <a:rPr lang="en-US" altLang="zh-CN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PFS/OS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显著获益，支持</a:t>
            </a:r>
            <a:r>
              <a:rPr lang="en-US" altLang="zh-CN" sz="1400" kern="100" dirty="0" err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定将重塑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ESCC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二线治疗新格局，并成为新的二线标准治疗方案</a:t>
            </a:r>
            <a: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？</a:t>
            </a:r>
            <a:b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</a:br>
            <a: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     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②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</a:t>
            </a:r>
            <a: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食管鳞癌已由此迈入双抗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ADC</a:t>
            </a:r>
            <a: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治疗的新时代？</a:t>
            </a:r>
            <a:endParaRPr kumimoji="1" lang="zh-CN" altLang="zh-CN" sz="1400" kern="100" spc="-20" dirty="0">
              <a:ln w="12700">
                <a:noFill/>
                <a:prstDash val="solid"/>
              </a:ln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911860" y="3311525"/>
            <a:ext cx="1034478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ts val="2400"/>
              </a:lnSpc>
            </a:pP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二、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使用后首次疗效评估时，高达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65.9%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的患者均能实现肿瘤缩小；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组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ORR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达到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35.3%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，化疗组仅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13.1%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，相差近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3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倍，在您看来：</a:t>
            </a:r>
            <a:endParaRPr lang="zh-CN" altLang="en-US" sz="1600" b="1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 fontAlgn="auto">
              <a:lnSpc>
                <a:spcPts val="2400"/>
              </a:lnSpc>
            </a:pPr>
            <a:r>
              <a:rPr lang="en-US" altLang="zh-CN" sz="16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</a:t>
            </a:r>
            <a:r>
              <a:rPr lang="zh-CN" altLang="en-US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① 首次疗评就能看到肿瘤退缩，这对患者来说至关重要吗？出现首评缩瘤和不缩瘤的患者反应是什么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？</a:t>
            </a:r>
            <a:b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</a:b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 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② 首评即缩瘤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——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对患者继续接受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治疗意愿有什么影响？首评缩瘤幅度是否决定患者后续持续接受</a:t>
            </a:r>
            <a:r>
              <a:rPr lang="en-US" altLang="zh-CN" sz="1400" kern="100" dirty="0" err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治疗？</a:t>
            </a:r>
            <a:endParaRPr lang="en-US" altLang="zh-CN" sz="1400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Segoe UI" panose="020B0502040204020203" pitchFamily="34" charset="0"/>
              <a:sym typeface="+mn-ea"/>
            </a:endParaRPr>
          </a:p>
          <a:p>
            <a:pPr indent="0" algn="l" fontAlgn="auto">
              <a:lnSpc>
                <a:spcPts val="2400"/>
              </a:lnSpc>
            </a:pP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</a:t>
            </a:r>
            <a:r>
              <a:rPr lang="en-US" altLang="zh-CN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     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③ </a:t>
            </a:r>
            <a:r>
              <a:rPr lang="en-US" altLang="zh-CN" sz="1400" kern="100" dirty="0" err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iza-bren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ORR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高达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35.3%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，远超化疗的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13.1%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；这对患者就医体验和临床实际获益具有怎样的意义？</a:t>
            </a:r>
            <a:endParaRPr lang="zh-CN" altLang="en-US" sz="1400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911860" y="4933950"/>
            <a:ext cx="10455275" cy="16300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l" fontAlgn="auto">
              <a:lnSpc>
                <a:spcPts val="2400"/>
              </a:lnSpc>
            </a:pPr>
            <a:r>
              <a:rPr lang="zh-CN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三、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基于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不良反应谱特点，结合您的肿瘤治疗经验与</a:t>
            </a:r>
            <a:r>
              <a:rPr lang="en-US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的应用体验</a:t>
            </a:r>
            <a:r>
              <a:rPr lang="zh-CN" altLang="zh-CN" sz="1600" b="1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：</a:t>
            </a:r>
            <a:endParaRPr lang="zh-CN" altLang="zh-CN" sz="1600" b="1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Times New Roman" panose="02020603050405020304" charset="0"/>
            </a:endParaRPr>
          </a:p>
          <a:p>
            <a:pPr indent="0" algn="l" fontAlgn="auto">
              <a:lnSpc>
                <a:spcPts val="2400"/>
              </a:lnSpc>
            </a:pPr>
            <a:r>
              <a:rPr lang="en-US" altLang="zh-CN" sz="16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     </a:t>
            </a:r>
            <a:r>
              <a:rPr lang="en-US" altLang="zh-CN" sz="12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 </a:t>
            </a:r>
            <a:r>
              <a:rPr lang="zh-CN" altLang="en-US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① 使用</a:t>
            </a:r>
            <a:r>
              <a:rPr lang="en-US" altLang="zh-CN" sz="1400" kern="100" dirty="0" err="1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 charset="0"/>
                <a:sym typeface="+mn-ea"/>
              </a:rPr>
              <a:t>期间，应积极监测血常规并采取预防性处理措施，以最大程度降低血液学毒性的发生风险，从而使患者获得最大治疗获益？</a:t>
            </a:r>
            <a:b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</a:br>
            <a:r>
              <a:rPr lang="zh-CN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</a:t>
            </a:r>
            <a:r>
              <a:rPr lang="en-US" altLang="zh-CN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     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② 基于您的临床经验，对进一步优化</a:t>
            </a:r>
            <a:r>
              <a:rPr lang="en-US" altLang="zh-CN" sz="1400" kern="100" dirty="0" err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相关血液学毒性的预防与处理有哪些建议？</a:t>
            </a:r>
            <a:endParaRPr lang="zh-CN" altLang="en-US" sz="1400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Segoe UI" panose="020B0502040204020203" pitchFamily="34" charset="0"/>
            </a:endParaRPr>
          </a:p>
          <a:p>
            <a:pPr indent="0" algn="l" fontAlgn="auto">
              <a:lnSpc>
                <a:spcPts val="2400"/>
              </a:lnSpc>
            </a:pP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       ③ 基于您的临床经验，对</a:t>
            </a:r>
            <a:r>
              <a:rPr lang="en-US" altLang="zh-CN" sz="1400" kern="100" dirty="0" err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iza-bren</a:t>
            </a:r>
            <a:r>
              <a:rPr lang="zh-CN" altLang="en-US" sz="1400" kern="100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Segoe UI" panose="020B0502040204020203" pitchFamily="34" charset="0"/>
                <a:sym typeface="+mn-ea"/>
              </a:rPr>
              <a:t>相关的非血液学毒性（恶心呕吐等），您有哪些处理心得与建议？</a:t>
            </a:r>
            <a:endParaRPr lang="zh-CN" altLang="en-US" sz="1400" kern="1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cs typeface="Segoe UI" panose="020B0502040204020203" pitchFamily="34" charset="0"/>
              <a:sym typeface="+mn-ea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4877435" y="765175"/>
            <a:ext cx="2413635" cy="1400175"/>
          </a:xfrm>
          <a:prstGeom prst="rect">
            <a:avLst/>
          </a:prstGeom>
          <a:noFill/>
        </p:spPr>
        <p:txBody>
          <a:bodyPr wrap="square" rtlCol="0" anchor="ctr" anchorCtr="1">
            <a:noAutofit/>
            <a:scene3d>
              <a:camera prst="orthographicFront"/>
              <a:lightRig rig="threePt" dir="t"/>
            </a:scene3d>
          </a:bodyPr>
          <a:lstStyle/>
          <a:p>
            <a:pPr indent="0" algn="ctr" fontAlgn="auto">
              <a:lnSpc>
                <a:spcPct val="120000"/>
              </a:lnSpc>
              <a:buClrTx/>
              <a:buSzTx/>
              <a:buFontTx/>
            </a:pPr>
            <a:r>
              <a:rPr lang="zh-CN" sz="20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讨论话题</a:t>
            </a:r>
            <a:endParaRPr kumimoji="1" lang="zh-CN" sz="2000" b="1" kern="0" spc="-20" dirty="0">
              <a:ln w="12700">
                <a:noFill/>
                <a:prstDash val="solid"/>
              </a:ln>
              <a:solidFill>
                <a:srgbClr val="435690">
                  <a:alpha val="100000"/>
                </a:srgbClr>
              </a:solidFill>
              <a:effectLst/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</p:spTree>
    <p:custDataLst>
      <p:tags r:id="rId6"/>
    </p:custData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0710" y="1275080"/>
            <a:ext cx="10989945" cy="51415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2" name="矩形: 圆角 31"/>
          <p:cNvSpPr/>
          <p:nvPr>
            <p:custDataLst>
              <p:tags r:id="rId4"/>
            </p:custDataLst>
          </p:nvPr>
        </p:nvSpPr>
        <p:spPr>
          <a:xfrm>
            <a:off x="1382777" y="1903095"/>
            <a:ext cx="2158365" cy="2876550"/>
          </a:xfrm>
          <a:prstGeom prst="roundRect">
            <a:avLst>
              <a:gd name="adj" fmla="val 17402"/>
            </a:avLst>
          </a:prstGeom>
          <a:gradFill flip="none" rotWithShape="1"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1" name="矩形: 圆角 11"/>
          <p:cNvSpPr/>
          <p:nvPr/>
        </p:nvSpPr>
        <p:spPr>
          <a:xfrm>
            <a:off x="1726480" y="1417173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讨论嘉宾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740427" y="490644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sz="2400" b="1" kern="0" spc="-2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李晓倩</a:t>
            </a:r>
            <a:r>
              <a:rPr lang="en-US" altLang="zh-CN" sz="2400" b="1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endParaRPr lang="en-US" altLang="zh-CN" sz="24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sz="1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zh-CN" altLang="en-US" sz="18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 descr="亚健康logo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4" name="Picture 3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pic>
        <p:nvPicPr>
          <p:cNvPr id="6" name="图片 5" descr="E:/李晓倩.png李晓倩"/>
          <p:cNvPicPr>
            <a:picLocks noChangeAspect="1" noChangeArrowheads="1"/>
          </p:cNvPicPr>
          <p:nvPr/>
        </p:nvPicPr>
        <p:blipFill rotWithShape="1">
          <a:blip r:embed="rId7"/>
          <a:srcRect l="6305" r="5133" b="15303"/>
          <a:stretch>
            <a:fillRect/>
          </a:stretch>
        </p:blipFill>
        <p:spPr bwMode="auto">
          <a:xfrm>
            <a:off x="1383030" y="2014855"/>
            <a:ext cx="2158365" cy="2764790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4356100" y="1156335"/>
            <a:ext cx="7342505" cy="51625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>
              <a:lnSpc>
                <a:spcPct val="200000"/>
              </a:lnSpc>
            </a:pPr>
            <a:r>
              <a:rPr lang="zh-CN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山东第一医科大学附属肿瘤医院消化内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科三病区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肿瘤学博士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山东免疫学会肿瘤免疫专业委员会委员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山东省医院协会肿瘤精准治疗分会委员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山东省抗癌协会肿瘤心理学青委会委员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山东省转化医学学会消化道肿瘤治疗分会委员</a:t>
            </a:r>
            <a:endParaRPr lang="zh-CN" altLang="en-US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山东省疼痛医学会肿瘤化疗青委会委员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>
              <a:lnSpc>
                <a:spcPct val="200000"/>
              </a:lnSpc>
            </a:pP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主持山东省自然科学基金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1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项，发表多篇</a:t>
            </a:r>
            <a:r>
              <a:rPr lang="en-US" altLang="zh-CN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SCI</a:t>
            </a:r>
            <a:r>
              <a:rPr lang="zh-CN" altLang="en-US" sz="1600" b="1" dirty="0">
                <a:latin typeface="微软雅黑" panose="020B0503020204020204" charset="-122"/>
                <a:ea typeface="微软雅黑" panose="020B0503020204020204" charset="-122"/>
                <a:sym typeface="+mn-ea"/>
              </a:rPr>
              <a:t>论文</a:t>
            </a:r>
            <a:endParaRPr lang="en-US" altLang="zh-CN" sz="1600" b="1" dirty="0">
              <a:latin typeface="微软雅黑" panose="020B0503020204020204" charset="-122"/>
              <a:ea typeface="微软雅黑" panose="020B0503020204020204" charset="-122"/>
            </a:endParaRPr>
          </a:p>
          <a:p>
            <a:pPr marR="0" indent="0" defTabSz="914400" fontAlgn="auto">
              <a:lnSpc>
                <a:spcPct val="180000"/>
              </a:lnSpc>
              <a:spcBef>
                <a:spcPts val="0"/>
              </a:spcBef>
              <a:buClrTx/>
              <a:buSzTx/>
              <a:buNone/>
            </a:pP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50540" y="216471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议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总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endParaRPr kumimoji="1" lang="zh-CN" sz="72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2280285" y="3894455"/>
            <a:ext cx="7631430" cy="138366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韩淑梅  教授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endParaRPr sz="2800" b="1" kern="0" spc="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indent="0" algn="ctr" fontAlgn="auto">
              <a:lnSpc>
                <a:spcPct val="150000"/>
              </a:lnSpc>
              <a:buClrTx/>
              <a:buSzTx/>
              <a:buFontTx/>
            </a:pP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杨正强  教授</a:t>
            </a:r>
            <a:r>
              <a:rPr lang="en-US"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</a:t>
            </a:r>
            <a:r>
              <a:rPr sz="2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endParaRPr lang="zh-CN" altLang="en-US" sz="2800" b="1" dirty="0">
              <a:latin typeface="楷体" panose="02010609060101010101" pitchFamily="49" charset="-122"/>
              <a:ea typeface="楷体" panose="02010609060101010101" pitchFamily="49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6"/>
    </p:custData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圆角矩形 3"/>
          <p:cNvSpPr/>
          <p:nvPr/>
        </p:nvSpPr>
        <p:spPr>
          <a:xfrm>
            <a:off x="600710" y="1275080"/>
            <a:ext cx="10989945" cy="5141595"/>
          </a:xfrm>
          <a:prstGeom prst="roundRect">
            <a:avLst>
              <a:gd name="adj" fmla="val 384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sp>
        <p:nvSpPr>
          <p:cNvPr id="32" name="矩形: 圆角 31"/>
          <p:cNvSpPr/>
          <p:nvPr>
            <p:custDataLst>
              <p:tags r:id="rId4"/>
            </p:custDataLst>
          </p:nvPr>
        </p:nvSpPr>
        <p:spPr>
          <a:xfrm>
            <a:off x="1382777" y="1903095"/>
            <a:ext cx="2158365" cy="2876550"/>
          </a:xfrm>
          <a:prstGeom prst="roundRect">
            <a:avLst>
              <a:gd name="adj" fmla="val 17402"/>
            </a:avLst>
          </a:prstGeom>
          <a:gradFill flip="none" rotWithShape="1">
            <a:gsLst>
              <a:gs pos="0">
                <a:srgbClr val="BDBCBC"/>
              </a:gs>
              <a:gs pos="100000">
                <a:srgbClr val="DCDCDC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8" name="图片 7" descr="E:/韩.png韩"/>
          <p:cNvPicPr>
            <a:picLocks noChangeAspect="1" noChangeArrowheads="1"/>
          </p:cNvPicPr>
          <p:nvPr/>
        </p:nvPicPr>
        <p:blipFill rotWithShape="1">
          <a:blip r:embed="rId5"/>
          <a:srcRect l="27763" t="7550" r="33307" b="58143"/>
          <a:stretch>
            <a:fillRect/>
          </a:stretch>
        </p:blipFill>
        <p:spPr bwMode="auto">
          <a:xfrm>
            <a:off x="1383030" y="1903095"/>
            <a:ext cx="2158365" cy="2879725"/>
          </a:xfrm>
          <a:prstGeom prst="round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Rectangle 2"/>
          <p:cNvSpPr txBox="1">
            <a:spLocks noChangeArrowheads="1"/>
          </p:cNvSpPr>
          <p:nvPr/>
        </p:nvSpPr>
        <p:spPr>
          <a:xfrm>
            <a:off x="740427" y="4906440"/>
            <a:ext cx="3443064" cy="1000174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50000"/>
              </a:lnSpc>
            </a:pPr>
            <a:r>
              <a:rPr sz="24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韩淑梅</a:t>
            </a:r>
            <a:r>
              <a:rPr lang="en-US" altLang="zh-CN" sz="2400" b="1" dirty="0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微软雅黑" panose="020B0503020204020204" charset="-122"/>
              </a:rPr>
              <a:t> </a:t>
            </a:r>
            <a:r>
              <a:rPr lang="zh-CN" altLang="en-US" sz="2400" b="1"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sym typeface="+mn-ea"/>
              </a:rPr>
              <a:t>教授</a:t>
            </a:r>
            <a:endParaRPr lang="en-US" altLang="zh-CN" sz="24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>
              <a:lnSpc>
                <a:spcPct val="150000"/>
              </a:lnSpc>
              <a:buClrTx/>
              <a:buSzTx/>
              <a:buFontTx/>
            </a:pPr>
            <a:r>
              <a:rPr sz="1800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</a:t>
            </a:r>
            <a:r>
              <a:rPr lang="en-US" sz="1800" b="1" kern="0" spc="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1800" dirty="0">
              <a:solidFill>
                <a:srgbClr val="435690"/>
              </a:solidFill>
              <a:effectLst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0" name="图片 9" descr="亚健康logo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11" name="矩形: 圆角 11"/>
          <p:cNvSpPr/>
          <p:nvPr/>
        </p:nvSpPr>
        <p:spPr>
          <a:xfrm>
            <a:off x="1726480" y="1417173"/>
            <a:ext cx="1470959" cy="358623"/>
          </a:xfrm>
          <a:prstGeom prst="roundRect">
            <a:avLst>
              <a:gd name="adj" fmla="val 20014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hangingPunct="1">
              <a:defRPr/>
            </a:pPr>
            <a:r>
              <a:rPr lang="zh-CN" altLang="en-US" dirty="0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大会主席</a:t>
            </a:r>
            <a:endParaRPr lang="zh-CN" altLang="en-US" dirty="0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pic>
        <p:nvPicPr>
          <p:cNvPr id="12" name="Picture 3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  <p:sp>
        <p:nvSpPr>
          <p:cNvPr id="13" name="文本框 12"/>
          <p:cNvSpPr txBox="1"/>
          <p:nvPr/>
        </p:nvSpPr>
        <p:spPr>
          <a:xfrm>
            <a:off x="4356100" y="1156335"/>
            <a:ext cx="7342505" cy="5162550"/>
          </a:xfrm>
          <a:prstGeom prst="rect">
            <a:avLst/>
          </a:prstGeom>
          <a:noFill/>
        </p:spPr>
        <p:txBody>
          <a:bodyPr wrap="square" rtlCol="0" anchor="ctr" anchorCtr="0">
            <a:noAutofit/>
          </a:bodyPr>
          <a:lstStyle/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山东第一医科大学附属肿瘤医院消化内科三病区</a:t>
            </a:r>
            <a:r>
              <a:rPr lang="en-US" altLang="zh-CN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科主任</a:t>
            </a:r>
            <a:endParaRPr kumimoji="0" lang="en-US" altLang="zh-CN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副主任医师、医学博士、博士后、硕士生导师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国家二级心理咨询师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山东第一医科大学附属肿瘤医院胃癌多学科诊疗专家组成员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中国抗癌协会肿瘤支持治疗专业委员会委员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中国临床肿瘤学会肿瘤支持与康复治疗专家委员会委员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中国麻醉药品协会合理用药分会理事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山东省转化医学学会消化道肿瘤治疗分会副主任委员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山东省中医药学会肿瘤免疫治疗分会副主任委员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山东省医学会行为医学青年学组委员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山东省医师协会肿瘤化疗医师分会委员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山东省抗癌协会大肠癌分会委员会委员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山东省抗癌协会姑息治疗分会委员</a:t>
            </a:r>
            <a:endParaRPr kumimoji="0" lang="zh-CN" altLang="en-US" sz="1600" b="1" kern="1200" cap="none" spc="0" normalizeH="0" baseline="0" noProof="1"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R="0" indent="0" defTabSz="914400" fontAlgn="auto">
              <a:lnSpc>
                <a:spcPct val="120000"/>
              </a:lnSpc>
              <a:spcBef>
                <a:spcPts val="0"/>
              </a:spcBef>
              <a:buClrTx/>
              <a:buSzTx/>
              <a:buNone/>
            </a:pPr>
            <a:r>
              <a:rPr lang="zh-CN" altLang="en-US" sz="1600" b="1"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山东省疼痛医学会肿瘤放射治疗专业委员会委员</a:t>
            </a:r>
            <a:endParaRPr lang="zh-CN" altLang="en-US" sz="1600" b="1" kern="0" noProof="0" dirty="0" smtClean="0">
              <a:solidFill>
                <a:schemeClr val="tx1"/>
              </a:solidFill>
              <a:uFillTx/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  <p:custDataLst>
      <p:tags r:id="rId8"/>
    </p:custData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zh-CN" altLang="zh-CN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zh-CN" altLang="en-US"/>
          </a:p>
        </p:txBody>
      </p:sp>
      <p:pic>
        <p:nvPicPr>
          <p:cNvPr id="5" name="图片 4" descr="百利PPT背景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0800000">
            <a:off x="0" y="4445"/>
            <a:ext cx="12192000" cy="684911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3050540" y="2164715"/>
            <a:ext cx="6096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algn="ctr"/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会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议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结</a:t>
            </a:r>
            <a:r>
              <a:rPr kumimoji="1" lang="en-US" alt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kumimoji="1" lang="zh-CN" sz="7200" b="1" dirty="0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束</a:t>
            </a:r>
            <a:endParaRPr kumimoji="1" lang="zh-CN" sz="72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3048000" y="3894455"/>
            <a:ext cx="6096000" cy="737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ctr" fontAlgn="auto">
              <a:lnSpc>
                <a:spcPct val="150000"/>
              </a:lnSpc>
            </a:pPr>
            <a:r>
              <a:rPr lang="zh-CN" altLang="en-US" sz="2800" b="1">
                <a:solidFill>
                  <a:srgbClr val="435690"/>
                </a:solidFill>
                <a:latin typeface="微软雅黑" panose="020B0503020204020204" charset="-122"/>
                <a:ea typeface="微软雅黑" panose="020B0503020204020204" charset="-122"/>
                <a:sym typeface="+mn-ea"/>
              </a:rPr>
              <a:t>感谢各位专家参与本次会议！</a:t>
            </a:r>
            <a:endParaRPr lang="zh-CN" altLang="en-US" sz="2800" b="1" dirty="0">
              <a:solidFill>
                <a:srgbClr val="435690"/>
              </a:solidFill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  <p:pic>
        <p:nvPicPr>
          <p:cNvPr id="14" name="图片 13" descr="亚健康logo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9235" y="239395"/>
            <a:ext cx="1068705" cy="1049020"/>
          </a:xfrm>
          <a:prstGeom prst="rect">
            <a:avLst/>
          </a:prstGeom>
        </p:spPr>
      </p:pic>
      <p:sp>
        <p:nvSpPr>
          <p:cNvPr id="7" name="文本框 6"/>
          <p:cNvSpPr txBox="1"/>
          <p:nvPr/>
        </p:nvSpPr>
        <p:spPr>
          <a:xfrm>
            <a:off x="1350645" y="449580"/>
            <a:ext cx="609600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胸部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肿</a:t>
            </a:r>
            <a:r>
              <a:rPr lang="zh-CN" altLang="en-US" sz="2800" b="1">
                <a:ln w="6773"/>
                <a:solidFill>
                  <a:srgbClr val="435690"/>
                </a:solidFill>
                <a:effectLst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瘤</a:t>
            </a:r>
            <a:r>
              <a:rPr sz="2800" b="1" kern="0" spc="230" dirty="0">
                <a:solidFill>
                  <a:srgbClr val="435690">
                    <a:alpha val="100000"/>
                  </a:srgbClr>
                </a:solidFill>
                <a:latin typeface="微软雅黑" panose="020B0503020204020204" charset="-122"/>
                <a:ea typeface="微软雅黑" panose="020B0503020204020204" charset="-122"/>
                <a:cs typeface="黑体" panose="02010609060101010101" charset="-122"/>
                <a:sym typeface="+mn-ea"/>
              </a:rPr>
              <a:t>诊疗进展交流会</a:t>
            </a:r>
            <a:endParaRPr lang="zh-CN" altLang="en-US" sz="2800" b="1" kern="0" spc="230" dirty="0">
              <a:solidFill>
                <a:srgbClr val="435690">
                  <a:alpha val="100000"/>
                </a:srgbClr>
              </a:solidFill>
              <a:latin typeface="微软雅黑" panose="020B0503020204020204" charset="-122"/>
              <a:ea typeface="微软雅黑" panose="020B0503020204020204" charset="-122"/>
              <a:cs typeface="黑体" panose="02010609060101010101" charset="-122"/>
              <a:sym typeface="+mn-ea"/>
            </a:endParaRPr>
          </a:p>
        </p:txBody>
      </p:sp>
      <p:pic>
        <p:nvPicPr>
          <p:cNvPr id="10" name="Picture 3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963150" y="497840"/>
            <a:ext cx="1627505" cy="267335"/>
          </a:xfrm>
          <a:prstGeom prst="rect">
            <a:avLst/>
          </a:prstGeom>
          <a:ln w="12700">
            <a:noFill/>
            <a:prstDash val="solid"/>
          </a:ln>
        </p:spPr>
      </p:pic>
    </p:spTree>
    <p:custDataLst>
      <p:tags r:id="rId6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69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DIAGRAM_VIRTUALLY_FRAME" val="{&quot;height&quot;:413.1507874015748,&quot;left&quot;:-27.85,&quot;top&quot;:31.85,&quot;width&quot;:931.4}"/>
</p:tagLst>
</file>

<file path=ppt/tags/tag7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7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DIAGRAM_VIRTUALLY_FRAME" val="{&quot;height&quot;:413.1507874015748,&quot;left&quot;:-27.85,&quot;top&quot;:31.85,&quot;width&quot;:931.4}"/>
</p:tagLst>
</file>

<file path=ppt/tags/tag7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7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8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DIAGRAM_VIRTUALLY_FRAME" val="{&quot;height&quot;:413.1507874015748,&quot;left&quot;:-27.85,&quot;top&quot;:31.85,&quot;width&quot;:931.4}"/>
</p:tagLst>
</file>

<file path=ppt/tags/tag8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8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8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9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DIAGRAM_VIRTUALLY_FRAME" val="{&quot;height&quot;:413.1507874015748,&quot;left&quot;:-27.85,&quot;top&quot;:31.85,&quot;width&quot;:931.4}"/>
</p:tagLst>
</file>

<file path=ppt/tags/tag9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DIAGRAM_VIRTUALLY_FRAME" val="{&quot;height&quot;:413.1507874015748,&quot;left&quot;:-27.85,&quot;top&quot;:31.85,&quot;width&quot;:931.4}"/>
</p:tagLst>
</file>

<file path=ppt/tags/tag10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ags/tag10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NEW_CREATE" val="1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2463</Words>
  <Application>WPS 演示</Application>
  <PresentationFormat>宽屏</PresentationFormat>
  <Paragraphs>159</Paragraphs>
  <Slides>12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5" baseType="lpstr">
      <vt:lpstr>Arial</vt:lpstr>
      <vt:lpstr>宋体</vt:lpstr>
      <vt:lpstr>Wingdings</vt:lpstr>
      <vt:lpstr>Wingdings</vt:lpstr>
      <vt:lpstr>微软雅黑</vt:lpstr>
      <vt:lpstr>黑体</vt:lpstr>
      <vt:lpstr>楷体</vt:lpstr>
      <vt:lpstr>等线</vt:lpstr>
      <vt:lpstr>Times New Roman</vt:lpstr>
      <vt:lpstr>Segoe UI</vt:lpstr>
      <vt:lpstr>Arial Unicode MS</vt:lpstr>
      <vt:lpstr>Calibri</vt:lpstr>
      <vt:lpstr>WPS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大耗子</cp:lastModifiedBy>
  <cp:revision>181</cp:revision>
  <dcterms:created xsi:type="dcterms:W3CDTF">2019-06-19T02:08:00Z</dcterms:created>
  <dcterms:modified xsi:type="dcterms:W3CDTF">2026-07-15T02:31:49Z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A83B28B39D6A496A8360EB2DDB898708_13</vt:lpwstr>
  </property>
</Properties>
</file>
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7562850" cy="106934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6" userDrawn="1">
          <p15:clr>
            <a:srgbClr val="A4A3A4"/>
          </p15:clr>
        </p15:guide>
        <p15:guide id="2" pos="24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234C"/>
    <a:srgbClr val="616A7E"/>
    <a:srgbClr val="B594CC"/>
    <a:srgbClr val="A99FC9"/>
    <a:srgbClr val="B79AC5"/>
    <a:srgbClr val="B6B1C1"/>
    <a:srgbClr val="B6A8C7"/>
    <a:srgbClr val="551866"/>
    <a:srgbClr val="B30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3386"/>
        <p:guide pos="24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7686" y="1143000"/>
            <a:ext cx="218262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最终背景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81265" cy="10693400"/>
          </a:xfrm>
          <a:prstGeom prst="rect">
            <a:avLst/>
          </a:prstGeom>
        </p:spPr>
      </p:pic>
      <p:sp>
        <p:nvSpPr>
          <p:cNvPr id="24" name="AutoShape 4"/>
          <p:cNvSpPr/>
          <p:nvPr/>
        </p:nvSpPr>
        <p:spPr>
          <a:xfrm>
            <a:off x="808673" y="2220077"/>
            <a:ext cx="5974080" cy="1309156"/>
          </a:xfrm>
          <a:prstGeom prst="roundRect">
            <a:avLst>
              <a:gd name="adj" fmla="val 15789"/>
            </a:avLst>
          </a:prstGeom>
          <a:solidFill>
            <a:srgbClr val="E1EFFB">
              <a:alpha val="100000"/>
            </a:srgbClr>
          </a:solidFill>
          <a:ln w="12700" cap="flat">
            <a:solidFill>
              <a:srgbClr val="D9D9D9">
                <a:alpha val="100000"/>
              </a:srgbClr>
            </a:solidFill>
            <a:prstDash val="solid"/>
          </a:ln>
          <a:effectLst>
            <a:outerShdw dist="25400" dir="2700000" algn="tl" rotWithShape="0">
              <a:srgbClr val="BDD7EE">
                <a:alpha val="10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0" name="textbox 20"/>
          <p:cNvSpPr/>
          <p:nvPr/>
        </p:nvSpPr>
        <p:spPr>
          <a:xfrm>
            <a:off x="5873768" y="10024323"/>
            <a:ext cx="1156969" cy="14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defTabSz="0" rtl="0" eaLnBrk="0">
              <a:lnSpc>
                <a:spcPct val="83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ts val="970"/>
              </a:lnSpc>
            </a:pPr>
            <a:r>
              <a:rPr sz="800" kern="0" spc="40" dirty="0">
                <a:solidFill>
                  <a:srgbClr val="103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*讨论专家按照姓氏排序</a:t>
            </a:r>
            <a:endParaRPr sz="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7225" y="2303145"/>
            <a:ext cx="5651500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624205" algn="l" defTabSz="0" rtl="0" eaLnBrk="0">
              <a:lnSpc>
                <a:spcPct val="96000"/>
              </a:lnSpc>
              <a:spcBef>
                <a:spcPts val="0"/>
              </a:spcBef>
            </a:pPr>
            <a:r>
              <a:rPr sz="14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会议时间：</a:t>
            </a:r>
            <a:r>
              <a:rPr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2026年0</a:t>
            </a:r>
            <a:r>
              <a:rPr lang="en-US"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</a:t>
            </a:r>
            <a:r>
              <a:rPr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r>
              <a:rPr lang="en-US"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19</a:t>
            </a:r>
            <a:r>
              <a:rPr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en-US"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00</a:t>
            </a:r>
            <a:r>
              <a:rPr sz="1400" b="1" kern="0" spc="3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en-US" sz="1400" b="1" kern="0" spc="20" dirty="0">
                <a:solidFill>
                  <a:srgbClr val="1030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21:00</a:t>
            </a:r>
            <a:endParaRPr lang="zh-CN" altLang="en-US" sz="1400" b="1" kern="0" spc="20" dirty="0">
              <a:solidFill>
                <a:srgbClr val="1030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7065" y="2755265"/>
            <a:ext cx="5651500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621665" algn="l" defTabSz="0" rtl="0" eaLnBrk="0">
              <a:lnSpc>
                <a:spcPts val="1475"/>
              </a:lnSpc>
              <a:spcBef>
                <a:spcPts val="370"/>
              </a:spcBef>
            </a:pPr>
            <a:r>
              <a:rPr sz="14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会议地点：</a:t>
            </a:r>
            <a:r>
              <a:rPr lang="zh-CN" altLang="en-US" sz="14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腾讯会议：357-919-841</a:t>
            </a:r>
            <a:endParaRPr lang="zh-CN" altLang="en-US" sz="1400" b="1" kern="0" spc="3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9130" y="3150235"/>
            <a:ext cx="5651500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624205" algn="l" defTabSz="0" rtl="0" eaLnBrk="0">
              <a:lnSpc>
                <a:spcPct val="95000"/>
              </a:lnSpc>
              <a:spcBef>
                <a:spcPts val="5"/>
              </a:spcBef>
            </a:pPr>
            <a:r>
              <a:rPr sz="14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会议主席：</a:t>
            </a:r>
            <a:r>
              <a:rPr lang="zh-CN" altLang="en-US" sz="14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</a:t>
            </a:r>
            <a:r>
              <a:rPr lang="zh-CN" altLang="en-US" sz="1400" b="1" kern="0" spc="30" dirty="0">
                <a:solidFill>
                  <a:srgbClr val="10309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　</a:t>
            </a:r>
            <a:r>
              <a:rPr lang="zh-CN" altLang="en-US" sz="14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述</a:t>
            </a:r>
            <a:r>
              <a:rPr lang="zh-CN" altLang="en-US" sz="14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教授、毕经旺 教授</a:t>
            </a:r>
            <a:endParaRPr sz="1400" b="1" kern="0" spc="3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 descr="1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2230"/>
            <a:ext cx="7562850" cy="461645"/>
          </a:xfrm>
          <a:prstGeom prst="rect">
            <a:avLst/>
          </a:prstGeom>
        </p:spPr>
      </p:pic>
      <p:pic>
        <p:nvPicPr>
          <p:cNvPr id="23" name="图片 22" descr="1001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" y="4939665"/>
            <a:ext cx="7562850" cy="323215"/>
          </a:xfrm>
          <a:prstGeom prst="rect">
            <a:avLst/>
          </a:prstGeom>
        </p:spPr>
      </p:pic>
      <p:cxnSp>
        <p:nvCxnSpPr>
          <p:cNvPr id="25" name="直接连接符 24"/>
          <p:cNvCxnSpPr/>
          <p:nvPr/>
        </p:nvCxnSpPr>
        <p:spPr>
          <a:xfrm>
            <a:off x="692785" y="5716270"/>
            <a:ext cx="6261100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616A7E"/>
                </a:gs>
                <a:gs pos="100000">
                  <a:schemeClr val="bg1">
                    <a:lumMod val="95000"/>
                    <a:alpha val="34000"/>
                  </a:schemeClr>
                </a:gs>
              </a:gsLst>
              <a:lin ang="10800000" scaled="0"/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824865" y="3923030"/>
            <a:ext cx="6003290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47015" algn="l" defTabSz="0" rtl="0" eaLnBrk="0">
              <a:lnSpc>
                <a:spcPct val="100000"/>
              </a:lnSpc>
            </a:pPr>
            <a:r>
              <a:rPr lang="en-US" sz="1400" kern="0" spc="120" dirty="0">
                <a:solidFill>
                  <a:srgbClr val="FFFFFF">
                    <a:alpha val="100000"/>
                  </a:srgbClr>
                </a:solidFill>
                <a:latin typeface="阿里巴巴普惠体 B" panose="00020600040101010101" charset="-122"/>
                <a:ea typeface="阿里巴巴普惠体 B" panose="00020600040101010101" charset="-122"/>
                <a:cs typeface="阿里巴巴普惠体 B" panose="00020600040101010101" charset="-122"/>
                <a:sym typeface="+mn-ea"/>
              </a:rPr>
              <a:t> </a:t>
            </a:r>
            <a:r>
              <a:rPr sz="1400" b="1" kern="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</a:t>
            </a:r>
            <a:r>
              <a:rPr lang="en-US" sz="1400" b="1" kern="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   </a:t>
            </a:r>
            <a:r>
              <a:rPr lang="zh-CN" altLang="en-US" sz="1400" b="1" kern="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</a:t>
            </a:r>
            <a:r>
              <a:rPr lang="en-US" altLang="zh-CN" sz="1400" b="1" kern="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</a:t>
            </a:r>
            <a:r>
              <a:rPr lang="zh-CN" altLang="en-US" sz="1400" b="1" kern="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讲者</a:t>
            </a:r>
            <a:endParaRPr lang="zh-CN" altLang="en-US" sz="1400" b="1" kern="0" spc="12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5340" y="4955540"/>
            <a:ext cx="6003290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62255" algn="ctr" defTabSz="0" rtl="0" eaLnBrk="0">
              <a:lnSpc>
                <a:spcPts val="1440"/>
              </a:lnSpc>
              <a:spcBef>
                <a:spcPts val="5"/>
              </a:spcBef>
            </a:pPr>
            <a:r>
              <a:rPr sz="1200" b="1" kern="0" spc="-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Session I    环节主持：   </a:t>
            </a:r>
            <a:r>
              <a:rPr lang="en-US" sz="1200" b="1" kern="0" spc="-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 </a:t>
            </a:r>
            <a:r>
              <a:rPr lang="zh-CN" altLang="en-US" sz="1200" b="1" kern="0" spc="-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宁方玲 教授</a:t>
            </a:r>
            <a:r>
              <a:rPr lang="en-US" sz="1200" b="1" kern="0" spc="-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endParaRPr lang="zh-CN" altLang="en-US" sz="1200" b="1" kern="0" spc="-20" dirty="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70865" y="4545965"/>
            <a:ext cx="184340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47015" algn="l" defTabSz="0" rtl="0" eaLnBrk="0">
              <a:lnSpc>
                <a:spcPct val="100000"/>
              </a:lnSpc>
            </a:pP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19</a:t>
            </a:r>
            <a:r>
              <a:rPr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</a:t>
            </a:r>
            <a:r>
              <a:rPr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0-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19</a:t>
            </a:r>
            <a:r>
              <a:rPr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</a:t>
            </a:r>
            <a:r>
              <a:rPr sz="1200" b="1" kern="0" spc="1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</a:t>
            </a:r>
            <a:endParaRPr lang="zh-CN" altLang="en-US" sz="1200" kern="0" spc="120" dirty="0">
              <a:solidFill>
                <a:srgbClr val="FFFFFF">
                  <a:alpha val="100000"/>
                </a:srgbClr>
              </a:solidFill>
              <a:latin typeface="阿里巴巴普惠体 B" panose="00020600040101010101" charset="-122"/>
              <a:ea typeface="阿里巴巴普惠体 B" panose="00020600040101010101" charset="-122"/>
              <a:cs typeface="阿里巴巴普惠体 B" panose="00020600040101010101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82625" y="5375910"/>
            <a:ext cx="184340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47015" lvl="0" algn="l" defTabSz="0" eaLnBrk="0">
              <a:buClrTx/>
              <a:buSzTx/>
              <a:buFontTx/>
            </a:pP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19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-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19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:4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</a:t>
            </a:r>
            <a:endParaRPr lang="en-US" sz="1200" b="1" kern="0" spc="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92785" y="6080760"/>
            <a:ext cx="184340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47015" lvl="0" algn="l" defTabSz="0" eaLnBrk="0">
              <a:buClrTx/>
              <a:buSzTx/>
              <a:buFontTx/>
            </a:pP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19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:4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-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00</a:t>
            </a:r>
            <a:endParaRPr lang="en-US" sz="1200" b="1" kern="0" spc="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6275" y="7427595"/>
            <a:ext cx="184340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47015" lvl="0" algn="l" defTabSz="0" eaLnBrk="0">
              <a:buClrTx/>
              <a:buSzTx/>
              <a:buFontTx/>
            </a:pP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-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20:30</a:t>
            </a:r>
            <a:endParaRPr lang="en-US" sz="1200" b="1" kern="0" spc="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8340" y="8295005"/>
            <a:ext cx="184340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47015" lvl="0" algn="l" defTabSz="0" eaLnBrk="0">
              <a:buClrTx/>
              <a:buSzTx/>
              <a:buFontTx/>
            </a:pP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:30-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50</a:t>
            </a:r>
            <a:endParaRPr lang="en-US" sz="1200" b="1" kern="0" spc="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686435" y="7769225"/>
            <a:ext cx="6261100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616A7E"/>
                </a:gs>
                <a:gs pos="100000">
                  <a:schemeClr val="bg1">
                    <a:lumMod val="95000"/>
                    <a:alpha val="34000"/>
                  </a:schemeClr>
                </a:gs>
              </a:gsLst>
              <a:lin ang="10800000" scaled="0"/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711835" y="9163050"/>
            <a:ext cx="1843405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47015" lvl="0" algn="l" defTabSz="0" eaLnBrk="0">
              <a:buClrTx/>
              <a:buSzTx/>
              <a:buFontTx/>
            </a:pP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20:5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-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21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:0</a:t>
            </a:r>
            <a:r>
              <a:rPr lang="en-US" sz="1200" b="1" kern="0" spc="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</a:t>
            </a:r>
            <a:endParaRPr lang="en-US" sz="1200" b="1" kern="0" spc="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7" name="图片 46" descr="1001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" y="6946900"/>
            <a:ext cx="7562850" cy="323215"/>
          </a:xfrm>
          <a:prstGeom prst="rect">
            <a:avLst/>
          </a:prstGeom>
        </p:spPr>
      </p:pic>
      <p:cxnSp>
        <p:nvCxnSpPr>
          <p:cNvPr id="48" name="直接连接符 47"/>
          <p:cNvCxnSpPr/>
          <p:nvPr/>
        </p:nvCxnSpPr>
        <p:spPr>
          <a:xfrm>
            <a:off x="721995" y="9020175"/>
            <a:ext cx="6261100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616A7E"/>
                </a:gs>
                <a:gs pos="100000">
                  <a:schemeClr val="bg1">
                    <a:lumMod val="95000"/>
                    <a:alpha val="34000"/>
                  </a:schemeClr>
                </a:gs>
              </a:gsLst>
              <a:lin ang="10800000" scaled="0"/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721995" y="9514205"/>
            <a:ext cx="6261100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616A7E"/>
                </a:gs>
                <a:gs pos="100000">
                  <a:schemeClr val="bg1">
                    <a:lumMod val="95000"/>
                    <a:alpha val="34000"/>
                  </a:schemeClr>
                </a:gs>
              </a:gsLst>
              <a:lin ang="10800000" scaled="0"/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808990" y="6981825"/>
            <a:ext cx="6003290" cy="36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47015" algn="ctr" defTabSz="0" rtl="0" eaLnBrk="0">
              <a:lnSpc>
                <a:spcPct val="100000"/>
              </a:lnSpc>
              <a:spcBef>
                <a:spcPts val="5"/>
              </a:spcBef>
              <a:buClrTx/>
              <a:buSzTx/>
              <a:buFontTx/>
            </a:pPr>
            <a:r>
              <a:rPr sz="1200" b="1" kern="0" spc="-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Session II    环节主持：   </a:t>
            </a:r>
            <a:r>
              <a:rPr lang="en-US" sz="1200" b="1" kern="0" spc="-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sz="1200" b="1" kern="0" spc="-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1200" b="1" kern="0" spc="-2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时圣彬 教授</a:t>
            </a:r>
            <a:endParaRPr lang="zh-CN" altLang="en-US" sz="1200" b="1" kern="0" spc="-20" dirty="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  <a:p>
            <a:pPr marL="247015" algn="ctr" defTabSz="0" rtl="0" eaLnBrk="0">
              <a:lnSpc>
                <a:spcPct val="100000"/>
              </a:lnSpc>
              <a:spcBef>
                <a:spcPts val="5"/>
              </a:spcBef>
              <a:buClrTx/>
              <a:buSzTx/>
              <a:buFontTx/>
            </a:pPr>
            <a:endParaRPr lang="zh-CN" altLang="en-US" sz="1200" b="1" kern="0" spc="-20" dirty="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  <a:p>
            <a:pPr marL="247015" algn="ctr" defTabSz="0" rtl="0" eaLnBrk="0">
              <a:lnSpc>
                <a:spcPct val="100000"/>
              </a:lnSpc>
              <a:spcBef>
                <a:spcPts val="5"/>
              </a:spcBef>
              <a:buClrTx/>
              <a:buSzTx/>
              <a:buFontTx/>
            </a:pPr>
            <a:endParaRPr lang="zh-CN" altLang="en-US" sz="1200" b="1" kern="0" spc="-20" dirty="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92981" y="303584"/>
            <a:ext cx="1093525" cy="17965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图片 13" descr="亚健康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35" y="161290"/>
            <a:ext cx="734060" cy="720090"/>
          </a:xfrm>
          <a:prstGeom prst="rect">
            <a:avLst/>
          </a:prstGeom>
        </p:spPr>
      </p:pic>
      <p:pic>
        <p:nvPicPr>
          <p:cNvPr id="1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99435" y="2337624"/>
            <a:ext cx="219024" cy="21902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6" name="Picture 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99435" y="2765693"/>
            <a:ext cx="219024" cy="21902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9" name="Picture 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102611" y="3168689"/>
            <a:ext cx="219024" cy="21902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5" name="textbox 10"/>
          <p:cNvSpPr/>
          <p:nvPr/>
        </p:nvSpPr>
        <p:spPr>
          <a:xfrm>
            <a:off x="3794738" y="513114"/>
            <a:ext cx="3235960" cy="1322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defTabSz="0" rtl="0" eaLnBrk="0">
              <a:lnSpc>
                <a:spcPct val="145000"/>
              </a:lnSpc>
            </a:pPr>
            <a:endParaRPr sz="2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r" defTabSz="0" rtl="0" eaLnBrk="0">
              <a:lnSpc>
                <a:spcPct val="96000"/>
              </a:lnSpc>
            </a:pP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defTabSz="0" rtl="0" eaLnBrk="0">
              <a:lnSpc>
                <a:spcPct val="119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defTabSz="0" rtl="0" eaLnBrk="0">
              <a:lnSpc>
                <a:spcPct val="120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defTabSz="0" rtl="0" eaLnBrk="0">
              <a:lnSpc>
                <a:spcPct val="120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defTabSz="0" rtl="0" eaLnBrk="0">
              <a:lnSpc>
                <a:spcPct val="101000"/>
              </a:lnSpc>
            </a:pPr>
            <a:endParaRPr sz="7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spcBef>
                <a:spcPts val="0"/>
              </a:spcBef>
            </a:pPr>
            <a:r>
              <a:rPr sz="2800" b="1" kern="0" spc="230" dirty="0">
                <a:solidFill>
                  <a:srgbClr val="103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800" b="1" kern="0" spc="230" dirty="0">
                <a:solidFill>
                  <a:srgbClr val="103080">
                    <a:alpha val="100000"/>
                  </a:srgbClr>
                </a:solidFill>
                <a:latin typeface="阿里巴巴普惠体 B" panose="00020600040101010101" charset="-122"/>
                <a:ea typeface="阿里巴巴普惠体 B" panose="00020600040101010101" charset="-122"/>
                <a:cs typeface="黑体" panose="02010609060101010101" charset="-122"/>
              </a:rPr>
              <a:t>诊疗进展交流会</a:t>
            </a:r>
            <a:endParaRPr sz="2800" b="1" kern="0" spc="230" dirty="0">
              <a:solidFill>
                <a:srgbClr val="103080">
                  <a:alpha val="100000"/>
                </a:srgbClr>
              </a:solidFill>
              <a:latin typeface="阿里巴巴普惠体 B" panose="00020600040101010101" charset="-122"/>
              <a:ea typeface="阿里巴巴普惠体 B" panose="00020600040101010101" charset="-122"/>
              <a:cs typeface="黑体" panose="02010609060101010101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1099185" y="881380"/>
            <a:ext cx="599440" cy="629920"/>
            <a:chOff x="2333" y="1101"/>
            <a:chExt cx="944" cy="992"/>
          </a:xfrm>
        </p:grpSpPr>
        <p:sp>
          <p:nvSpPr>
            <p:cNvPr id="44" name="直角三角形 43"/>
            <p:cNvSpPr/>
            <p:nvPr/>
          </p:nvSpPr>
          <p:spPr>
            <a:xfrm rot="5400000">
              <a:off x="2509" y="1325"/>
              <a:ext cx="792" cy="744"/>
            </a:xfrm>
            <a:prstGeom prst="rtTriangle">
              <a:avLst/>
            </a:prstGeom>
            <a:solidFill>
              <a:srgbClr val="B594CC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  <a:solidFill>
                  <a:srgbClr val="B6A8C7"/>
                </a:solidFill>
              </a:endParaRPr>
            </a:p>
          </p:txBody>
        </p:sp>
        <p:sp>
          <p:nvSpPr>
            <p:cNvPr id="52" name="直角三角形 51"/>
            <p:cNvSpPr/>
            <p:nvPr/>
          </p:nvSpPr>
          <p:spPr>
            <a:xfrm rot="5400000">
              <a:off x="2309" y="1125"/>
              <a:ext cx="792" cy="744"/>
            </a:xfrm>
            <a:prstGeom prst="rtTriangle">
              <a:avLst/>
            </a:prstGeom>
            <a:solidFill>
              <a:srgbClr val="B79AC5">
                <a:alpha val="67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noFill/>
                </a:ln>
                <a:solidFill>
                  <a:srgbClr val="B6A8C7"/>
                </a:solidFill>
              </a:endParaRPr>
            </a:p>
          </p:txBody>
        </p:sp>
      </p:grpSp>
      <p:sp>
        <p:nvSpPr>
          <p:cNvPr id="57" name="直角三角形 56"/>
          <p:cNvSpPr/>
          <p:nvPr/>
        </p:nvSpPr>
        <p:spPr>
          <a:xfrm rot="16200000">
            <a:off x="3639820" y="1511300"/>
            <a:ext cx="274320" cy="274320"/>
          </a:xfrm>
          <a:prstGeom prst="rtTriangle">
            <a:avLst/>
          </a:prstGeom>
          <a:solidFill>
            <a:srgbClr val="B6B1C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noFill/>
              </a:ln>
              <a:solidFill>
                <a:srgbClr val="B6A8C7"/>
              </a:solidFill>
            </a:endParaRPr>
          </a:p>
        </p:txBody>
      </p:sp>
      <p:sp>
        <p:nvSpPr>
          <p:cNvPr id="55" name="textbox 16"/>
          <p:cNvSpPr/>
          <p:nvPr/>
        </p:nvSpPr>
        <p:spPr>
          <a:xfrm>
            <a:off x="1292017" y="1078988"/>
            <a:ext cx="2621914" cy="774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defTabSz="0" rtl="0" eaLnBrk="0">
              <a:lnSpc>
                <a:spcPct val="9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6000"/>
              </a:lnSpc>
            </a:pPr>
            <a:r>
              <a:rPr lang="zh-CN" sz="5100" b="1" kern="0" spc="-20" dirty="0">
                <a:solidFill>
                  <a:srgbClr val="A5234C"/>
                </a:solidFill>
                <a:latin typeface="阿里巴巴普惠体 B" panose="00020600040101010101" charset="-122"/>
                <a:ea typeface="阿里巴巴普惠体 B" panose="00020600040101010101" charset="-122"/>
                <a:cs typeface="黑体" panose="02010609060101010101" charset="-122"/>
              </a:rPr>
              <a:t>胸部肿瘤</a:t>
            </a:r>
            <a:endParaRPr lang="zh-CN" sz="5100" b="1" kern="0" spc="-20" dirty="0">
              <a:solidFill>
                <a:srgbClr val="A5234C"/>
              </a:solidFill>
              <a:latin typeface="阿里巴巴普惠体 B" panose="00020600040101010101" charset="-122"/>
              <a:ea typeface="阿里巴巴普惠体 B" panose="0002060004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77565" y="4545965"/>
            <a:ext cx="8077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1200" b="1" kern="0" spc="-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开场致辞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47720" y="6080760"/>
            <a:ext cx="938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200" b="1" kern="0" spc="-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讨论环节</a:t>
            </a:r>
            <a:endParaRPr lang="zh-CN" sz="1200" b="1" kern="0" spc="-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76930" y="8295005"/>
            <a:ext cx="938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 kern="0" spc="-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讨论环节</a:t>
            </a:r>
            <a:endParaRPr lang="zh-CN" altLang="en-US" sz="1200" b="1" kern="0" spc="-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76930" y="9163050"/>
            <a:ext cx="9385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1200" b="1" kern="0" spc="-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会议总结</a:t>
            </a:r>
            <a:endParaRPr lang="zh-CN" sz="1200" b="1" kern="0" spc="-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03570" y="4386580"/>
            <a:ext cx="10795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ts val="1800"/>
              </a:lnSpc>
            </a:pP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</a:t>
            </a: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　</a:t>
            </a: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述</a:t>
            </a:r>
            <a:r>
              <a:rPr lang="en-US" altLang="zh-CN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教授</a:t>
            </a:r>
            <a:endParaRPr lang="zh-CN" altLang="en-US" sz="1200" b="1" kern="0" spc="3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auto">
              <a:lnSpc>
                <a:spcPts val="1800"/>
              </a:lnSpc>
            </a:pP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毕经旺 教授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2663190" y="5413375"/>
            <a:ext cx="24993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1200" b="1" kern="0" spc="-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双抗</a:t>
            </a:r>
            <a:r>
              <a:rPr lang="en-US" altLang="zh-CN" sz="1200" b="1" kern="0" spc="-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ADC</a:t>
            </a:r>
            <a:r>
              <a:rPr lang="en-US" altLang="zh-CN" sz="1200" b="1" kern="0" spc="-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在食管癌的临床研究解读</a:t>
            </a:r>
            <a:endParaRPr lang="en-US" altLang="zh-CN" sz="1200" b="1" kern="0" spc="-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81028" y="5375910"/>
            <a:ext cx="11245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赵淑芬</a:t>
            </a: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教授</a:t>
            </a:r>
            <a:endParaRPr lang="zh-CN" altLang="en-US" sz="1200" b="1" kern="0" dirty="0">
              <a:solidFill>
                <a:srgbClr val="103090">
                  <a:alpha val="10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03570" y="5736590"/>
            <a:ext cx="1079500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ts val="1800"/>
              </a:lnSpc>
            </a:pP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高艳芳 教授    刘悦超 教授 </a:t>
            </a:r>
            <a:endParaRPr lang="zh-CN" altLang="en-US" sz="1200" b="1" kern="0" dirty="0">
              <a:solidFill>
                <a:srgbClr val="103090">
                  <a:alpha val="10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ts val="1800"/>
              </a:lnSpc>
            </a:pP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彭洁琼 教授    许永超 教授</a:t>
            </a:r>
            <a:endParaRPr lang="zh-CN" altLang="en-US" sz="1200" b="1" kern="0" dirty="0">
              <a:solidFill>
                <a:srgbClr val="103090">
                  <a:alpha val="10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ts val="1800"/>
              </a:lnSpc>
            </a:pP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尹贻波</a:t>
            </a: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教授 </a:t>
            </a:r>
            <a:endParaRPr lang="zh-CN" altLang="en-US" sz="1200" b="1" kern="0" dirty="0">
              <a:solidFill>
                <a:srgbClr val="103090">
                  <a:alpha val="10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03570" y="7427595"/>
            <a:ext cx="10795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王慧君  教授</a:t>
            </a:r>
            <a:endParaRPr lang="zh-CN" altLang="en-US" sz="1200" b="1" kern="0" dirty="0">
              <a:solidFill>
                <a:srgbClr val="103090">
                  <a:alpha val="10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703570" y="7769225"/>
            <a:ext cx="1079500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ts val="1800"/>
              </a:lnSpc>
            </a:pP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杜忠海 教授   刘新会 教授杨金霞 教授赵</a:t>
            </a: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　</a:t>
            </a: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倩 教授</a:t>
            </a:r>
            <a:endParaRPr lang="zh-CN" altLang="en-US" sz="1200" b="1" kern="0" dirty="0">
              <a:solidFill>
                <a:srgbClr val="103090">
                  <a:alpha val="10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ts val="1800"/>
              </a:lnSpc>
            </a:pP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祝守慧</a:t>
            </a:r>
            <a:r>
              <a:rPr lang="en-US" altLang="zh-CN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kern="0" dirty="0">
                <a:solidFill>
                  <a:srgbClr val="103090">
                    <a:alpha val="10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教授</a:t>
            </a:r>
            <a:endParaRPr lang="zh-CN" altLang="en-US" sz="1200" b="1" kern="0" dirty="0">
              <a:solidFill>
                <a:srgbClr val="103090">
                  <a:alpha val="10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565400" y="7427595"/>
            <a:ext cx="2520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 kern="0" spc="-2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iza-bren的作用机制及安全性管理</a:t>
            </a:r>
            <a:endParaRPr lang="en-US" altLang="zh-CN" sz="1200" b="1" kern="0" spc="-2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03570" y="9020175"/>
            <a:ext cx="10795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ts val="1800"/>
              </a:lnSpc>
            </a:pP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</a:t>
            </a: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　</a:t>
            </a: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述</a:t>
            </a:r>
            <a:r>
              <a:rPr lang="en-US" altLang="zh-CN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教授</a:t>
            </a:r>
            <a:endParaRPr lang="zh-CN" altLang="en-US" sz="1200" b="1" kern="0" spc="30" dirty="0">
              <a:solidFill>
                <a:srgbClr val="1030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auto">
              <a:lnSpc>
                <a:spcPts val="1800"/>
              </a:lnSpc>
            </a:pPr>
            <a:r>
              <a:rPr lang="zh-CN" altLang="en-US" sz="1200" b="1" kern="0" spc="30" dirty="0">
                <a:solidFill>
                  <a:srgbClr val="1030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毕经旺 教授</a:t>
            </a:r>
            <a:endParaRPr lang="zh-CN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WPS 演示</Application>
  <PresentationFormat/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黑体</vt:lpstr>
      <vt:lpstr>微软雅黑</vt:lpstr>
      <vt:lpstr>阿里巴巴普惠体 B</vt:lpstr>
      <vt:lpstr>KSOF891FBC9C</vt:lpstr>
      <vt:lpstr>Segoe Print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大耗子</cp:lastModifiedBy>
  <cp:revision>26</cp:revision>
  <dcterms:created xsi:type="dcterms:W3CDTF">2026-07-05T13:06:00Z</dcterms:created>
  <dcterms:modified xsi:type="dcterms:W3CDTF">2026-08-13T03:58:27Z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1900-01-07T00:00:00Z</vt:filetime>
  </property>
  <property fmtid="{D5CDD505-2E9C-101B-9397-08002B2CF9AE}" pid="4" name="UsrData">
    <vt:lpwstr>6a4927911bad35001ff884b4wl</vt:lpwstr>
  </property>
  <property fmtid="{D5CDD505-2E9C-101B-9397-08002B2CF9AE}" pid="5" name="ICV">
    <vt:lpwstr>F7AFCF76A4264A89AF0A13069F67F469_13</vt:lpwstr>
  </property>
  <property fmtid="{D5CDD505-2E9C-101B-9397-08002B2CF9AE}" pid="6" name="KSOProductBuildVer">
    <vt:lpwstr>2052-12.1.0.28043</vt:lpwstr>
  </property>
</Properties>
</file>
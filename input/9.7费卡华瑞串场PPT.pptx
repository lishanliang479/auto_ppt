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  <p:sldMasterId id="2147483662" r:id="rId4"/>
    <p:sldMasterId id="2147483664" r:id="rId5"/>
    <p:sldMasterId id="2147483666" r:id="rId6"/>
    <p:sldMasterId id="2147483668" r:id="rId7"/>
    <p:sldMasterId id="2147483670" r:id="rId8"/>
    <p:sldMasterId id="2147483672" r:id="rId9"/>
    <p:sldMasterId id="2147483674" r:id="rId10"/>
    <p:sldMasterId id="2147483676" r:id="rId11"/>
    <p:sldMasterId id="2147483678" r:id="rId12"/>
    <p:sldMasterId id="2147483680" r:id="rId13"/>
    <p:sldMasterId id="2147483682" r:id="rId14"/>
    <p:sldMasterId id="2147483684" r:id="rId15"/>
    <p:sldMasterId id="2147483686" r:id="rId16"/>
    <p:sldMasterId id="2147483688" r:id="rId17"/>
    <p:sldMasterId id="2147483690" r:id="rId18"/>
    <p:sldMasterId id="2147483692" r:id="rId19"/>
  </p:sldMasterIdLst>
  <p:notesMasterIdLst>
    <p:notesMasterId r:id="rId21"/>
  </p:notesMasterIdLst>
  <p:sldIdLst>
    <p:sldId id="276" r:id="rId20"/>
    <p:sldId id="257" r:id="rId22"/>
    <p:sldId id="272" r:id="rId23"/>
    <p:sldId id="273" r:id="rId24"/>
    <p:sldId id="278" r:id="rId25"/>
    <p:sldId id="279" r:id="rId26"/>
    <p:sldId id="280" r:id="rId27"/>
    <p:sldId id="274" r:id="rId28"/>
    <p:sldId id="281" r:id="rId29"/>
    <p:sldId id="282" r:id="rId30"/>
    <p:sldId id="290" r:id="rId31"/>
    <p:sldId id="284" r:id="rId32"/>
    <p:sldId id="285" r:id="rId33"/>
    <p:sldId id="286" r:id="rId34"/>
    <p:sldId id="287" r:id="rId35"/>
    <p:sldId id="288" r:id="rId36"/>
    <p:sldId id="289" r:id="rId37"/>
    <p:sldId id="271" r:id="rId3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50" userDrawn="1">
          <p15:clr>
            <a:srgbClr val="747775"/>
          </p15:clr>
        </p15:guide>
        <p15:guide id="2" pos="2858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F2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50"/>
        <p:guide pos="2858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1" Type="http://schemas.openxmlformats.org/officeDocument/2006/relationships/tableStyles" Target="tableStyles.xml"/><Relationship Id="rId40" Type="http://schemas.openxmlformats.org/officeDocument/2006/relationships/viewProps" Target="viewProps.xml"/><Relationship Id="rId4" Type="http://schemas.openxmlformats.org/officeDocument/2006/relationships/slideMaster" Target="slideMasters/slideMaster3.xml"/><Relationship Id="rId39" Type="http://schemas.openxmlformats.org/officeDocument/2006/relationships/presProps" Target="presProps.xml"/><Relationship Id="rId38" Type="http://schemas.openxmlformats.org/officeDocument/2006/relationships/slide" Target="slides/slide18.xml"/><Relationship Id="rId37" Type="http://schemas.openxmlformats.org/officeDocument/2006/relationships/slide" Target="slides/slide17.xml"/><Relationship Id="rId36" Type="http://schemas.openxmlformats.org/officeDocument/2006/relationships/slide" Target="slides/slide16.xml"/><Relationship Id="rId35" Type="http://schemas.openxmlformats.org/officeDocument/2006/relationships/slide" Target="slides/slide15.xml"/><Relationship Id="rId34" Type="http://schemas.openxmlformats.org/officeDocument/2006/relationships/slide" Target="slides/slide14.xml"/><Relationship Id="rId33" Type="http://schemas.openxmlformats.org/officeDocument/2006/relationships/slide" Target="slides/slide13.xml"/><Relationship Id="rId32" Type="http://schemas.openxmlformats.org/officeDocument/2006/relationships/slide" Target="slides/slide12.xml"/><Relationship Id="rId31" Type="http://schemas.openxmlformats.org/officeDocument/2006/relationships/slide" Target="slides/slide11.xml"/><Relationship Id="rId30" Type="http://schemas.openxmlformats.org/officeDocument/2006/relationships/slide" Target="slides/slide10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9.xml"/><Relationship Id="rId28" Type="http://schemas.openxmlformats.org/officeDocument/2006/relationships/slide" Target="slides/slide8.xml"/><Relationship Id="rId27" Type="http://schemas.openxmlformats.org/officeDocument/2006/relationships/slide" Target="slides/slide7.xml"/><Relationship Id="rId26" Type="http://schemas.openxmlformats.org/officeDocument/2006/relationships/slide" Target="slides/slide6.xml"/><Relationship Id="rId25" Type="http://schemas.openxmlformats.org/officeDocument/2006/relationships/slide" Target="slides/slide5.xml"/><Relationship Id="rId24" Type="http://schemas.openxmlformats.org/officeDocument/2006/relationships/slide" Target="slides/slide4.xml"/><Relationship Id="rId23" Type="http://schemas.openxmlformats.org/officeDocument/2006/relationships/slide" Target="slides/slide3.xml"/><Relationship Id="rId22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20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slideMaster" Target="slideMasters/slideMaster18.xml"/><Relationship Id="rId18" Type="http://schemas.openxmlformats.org/officeDocument/2006/relationships/slideMaster" Target="slideMasters/slideMaster17.xml"/><Relationship Id="rId17" Type="http://schemas.openxmlformats.org/officeDocument/2006/relationships/slideMaster" Target="slideMasters/slideMaster16.xml"/><Relationship Id="rId16" Type="http://schemas.openxmlformats.org/officeDocument/2006/relationships/slideMaster" Target="slideMasters/slideMaster15.xml"/><Relationship Id="rId15" Type="http://schemas.openxmlformats.org/officeDocument/2006/relationships/slideMaster" Target="slideMasters/slideMaster14.xml"/><Relationship Id="rId14" Type="http://schemas.openxmlformats.org/officeDocument/2006/relationships/slideMaster" Target="slideMasters/slideMaster13.xml"/><Relationship Id="rId13" Type="http://schemas.openxmlformats.org/officeDocument/2006/relationships/slideMaster" Target="slideMasters/slideMaster12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再次感谢各位专家和同仁的积极参与和精彩分享。希望今天的交流能为大家带来新的启发和收获。现在是问答环节，欢迎大家就感兴趣的问题进行提问和深入探讨。谢谢大家！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交流会将分为五个部分。首先，我们将介绍会议的主旨与议程。接着，会有专家对最新的临床营养诊疗规范进行深度解读。之后，我们将探讨前沿技术在营养领域的创新应用。第四部分是多学科协作的成功案例分享。最后，我们将展望学科未来发展，并进行互动讨论。希望大家能在各个环节都有所收获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交流会将分为五个部分。首先，我们将介绍会议的主旨与议程。接着，会有专家对最新的临床营养诊疗规范进行深度解读。之后，我们将探讨前沿技术在营养领域的创新应用。第四部分是多学科协作的成功案例分享。最后，我们将展望学科未来发展，并进行互动讨论。希望大家能在各个环节都有所收获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交流会将分为五个部分。首先，我们将介绍会议的主旨与议程。接着，会有专家对最新的临床营养诊疗规范进行深度解读。之后，我们将探讨前沿技术在营养领域的创新应用。第四部分是多学科协作的成功案例分享。最后，我们将展望学科未来发展，并进行互动讨论。希望大家能在各个环节都有所收获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交流会将分为五个部分。首先，我们将介绍会议的主旨与议程。接着，会有专家对最新的临床营养诊疗规范进行深度解读。之后，我们将探讨前沿技术在营养领域的创新应用。第四部分是多学科协作的成功案例分享。最后，我们将展望学科未来发展，并进行互动讨论。希望大家能在各个环节都有所收获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交流会将分为五个部分。首先，我们将介绍会议的主旨与议程。接着，会有专家对最新的临床营养诊疗规范进行深度解读。之后，我们将探讨前沿技术在营养领域的创新应用。第四部分是多学科协作的成功案例分享。最后，我们将展望学科未来发展，并进行互动讨论。希望大家能在各个环节都有所收获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交流会将分为五个部分。首先，我们将介绍会议的主旨与议程。接着，会有专家对最新的临床营养诊疗规范进行深度解读。之后，我们将探讨前沿技术在营养领域的创新应用。第四部分是多学科协作的成功案例分享。最后，我们将展望学科未来发展，并进行互动讨论。希望大家能在各个环节都有所收获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交流会将分为五个部分。首先，我们将介绍会议的主旨与议程。接着，会有专家对最新的临床营养诊疗规范进行深度解读。之后，我们将探讨前沿技术在营养领域的创新应用。第四部分是多学科协作的成功案例分享。最后，我们将展望学科未来发展，并进行互动讨论。希望大家能在各个环节都有所收获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交流会将分为五个部分。首先，我们将介绍会议的主旨与议程。接着，会有专家对最新的临床营养诊疗规范进行深度解读。之后，我们将探讨前沿技术在营养领域的创新应用。第四部分是多学科协作的成功案例分享。最后，我们将展望学科未来发展，并进行互动讨论。希望大家能在各个环节都有所收获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交流会将分为五个部分。首先，我们将介绍会议的主旨与议程。接着，会有专家对最新的临床营养诊疗规范进行深度解读。之后，我们将探讨前沿技术在营养领域的创新应用。第四部分是多学科协作的成功案例分享。最后，我们将展望学科未来发展，并进行互动讨论。希望大家能在各个环节都有所收获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交流会将分为五个部分。首先，我们将介绍会议的主旨与议程。接着，会有专家对最新的临床营养诊疗规范进行深度解读。之后，我们将探讨前沿技术在营养领域的创新应用。第四部分是多学科协作的成功案例分享。最后，我们将展望学科未来发展，并进行互动讨论。希望大家能在各个环节都有所收获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交流会将分为五个部分。首先，我们将介绍会议的主旨与议程。接着，会有专家对最新的临床营养诊疗规范进行深度解读。之后，我们将探讨前沿技术在营养领域的创新应用。第四部分是多学科协作的成功案例分享。最后，我们将展望学科未来发展，并进行互动讨论。希望大家能在各个环节都有所收获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交流会将分为五个部分。首先，我们将介绍会议的主旨与议程。接着，会有专家对最新的临床营养诊疗规范进行深度解读。之后，我们将探讨前沿技术在营养领域的创新应用。第四部分是多学科协作的成功案例分享。最后，我们将展望学科未来发展，并进行互动讨论。希望大家能在各个环节都有所收获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交流会将分为五个部分。首先，我们将介绍会议的主旨与议程。接着，会有专家对最新的临床营养诊疗规范进行深度解读。之后，我们将探讨前沿技术在营养领域的创新应用。第四部分是多学科协作的成功案例分享。最后，我们将展望学科未来发展，并进行互动讨论。希望大家能在各个环节都有所收获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交流会将分为五个部分。首先，我们将介绍会议的主旨与议程。接着，会有专家对最新的临床营养诊疗规范进行深度解读。之后，我们将探讨前沿技术在营养领域的创新应用。第四部分是多学科协作的成功案例分享。最后，我们将展望学科未来发展，并进行互动讨论。希望大家能在各个环节都有所收获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交流会将分为五个部分。首先，我们将介绍会议的主旨与议程。接着，会有专家对最新的临床营养诊疗规范进行深度解读。之后，我们将探讨前沿技术在营养领域的创新应用。第四部分是多学科协作的成功案例分享。最后，我们将展望学科未来发展，并进行互动讨论。希望大家能在各个环节都有所收获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交流会将分为五个部分。首先，我们将介绍会议的主旨与议程。接着，会有专家对最新的临床营养诊疗规范进行深度解读。之后，我们将探讨前沿技术在营养领域的创新应用。第四部分是多学科协作的成功案例分享。最后，我们将展望学科未来发展，并进行互动讨论。希望大家能在各个环节都有所收获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再次感谢各位专家和同仁的积极参与和精彩分享。希望今天的交流能为大家带来新的启发和收获。现在是问答环节，欢迎大家就感兴趣的问题进行提问和深入探讨。谢谢大家！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1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18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9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20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21.xml"/></Relationships>
</file>

<file path=ppt/slideMasters/_rels/slideMaster12.xml.rels><?xml version="1.0" encoding="UTF-8" standalone="yes"?>
<Relationships xmlns="http://schemas.openxmlformats.org/package/2006/relationships"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22.xml"/></Relationships>
</file>

<file path=ppt/slideMasters/_rels/slideMaster13.xml.rels><?xml version="1.0" encoding="UTF-8" standalone="yes"?>
<Relationships xmlns="http://schemas.openxmlformats.org/package/2006/relationships"><Relationship Id="rId2" Type="http://schemas.openxmlformats.org/officeDocument/2006/relationships/theme" Target="../theme/theme13.xml"/><Relationship Id="rId1" Type="http://schemas.openxmlformats.org/officeDocument/2006/relationships/slideLayout" Target="../slideLayouts/slideLayout23.xml"/></Relationships>
</file>

<file path=ppt/slideMasters/_rels/slideMaster14.xml.rels><?xml version="1.0" encoding="UTF-8" standalone="yes"?>
<Relationships xmlns="http://schemas.openxmlformats.org/package/2006/relationships"><Relationship Id="rId2" Type="http://schemas.openxmlformats.org/officeDocument/2006/relationships/theme" Target="../theme/theme14.xml"/><Relationship Id="rId1" Type="http://schemas.openxmlformats.org/officeDocument/2006/relationships/slideLayout" Target="../slideLayouts/slideLayout24.xml"/></Relationships>
</file>

<file path=ppt/slideMasters/_rels/slideMaster15.xml.rels><?xml version="1.0" encoding="UTF-8" standalone="yes"?>
<Relationships xmlns="http://schemas.openxmlformats.org/package/2006/relationships"><Relationship Id="rId2" Type="http://schemas.openxmlformats.org/officeDocument/2006/relationships/theme" Target="../theme/theme15.xml"/><Relationship Id="rId1" Type="http://schemas.openxmlformats.org/officeDocument/2006/relationships/slideLayout" Target="../slideLayouts/slideLayout25.xml"/></Relationships>
</file>

<file path=ppt/slideMasters/_rels/slideMaster16.xml.rels><?xml version="1.0" encoding="UTF-8" standalone="yes"?>
<Relationships xmlns="http://schemas.openxmlformats.org/package/2006/relationships"><Relationship Id="rId2" Type="http://schemas.openxmlformats.org/officeDocument/2006/relationships/theme" Target="../theme/theme16.xml"/><Relationship Id="rId1" Type="http://schemas.openxmlformats.org/officeDocument/2006/relationships/slideLayout" Target="../slideLayouts/slideLayout26.xml"/></Relationships>
</file>

<file path=ppt/slideMasters/_rels/slideMaster17.xml.rels><?xml version="1.0" encoding="UTF-8" standalone="yes"?>
<Relationships xmlns="http://schemas.openxmlformats.org/package/2006/relationships"><Relationship Id="rId2" Type="http://schemas.openxmlformats.org/officeDocument/2006/relationships/theme" Target="../theme/theme17.xml"/><Relationship Id="rId1" Type="http://schemas.openxmlformats.org/officeDocument/2006/relationships/slideLayout" Target="../slideLayouts/slideLayout27.xml"/></Relationships>
</file>

<file path=ppt/slideMasters/_rels/slideMaster18.xml.rels><?xml version="1.0" encoding="UTF-8" standalone="yes"?>
<Relationships xmlns="http://schemas.openxmlformats.org/package/2006/relationships"><Relationship Id="rId2" Type="http://schemas.openxmlformats.org/officeDocument/2006/relationships/theme" Target="../theme/theme18.xml"/><Relationship Id="rId1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7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7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8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8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8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87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8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9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9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6.xml"/><Relationship Id="rId3" Type="http://schemas.openxmlformats.org/officeDocument/2006/relationships/image" Target="../media/image2.png"/><Relationship Id="rId2" Type="http://schemas.openxmlformats.org/officeDocument/2006/relationships/tags" Target="../tags/tag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.png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4.xml"/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2.png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8.xml"/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9.xml"/><Relationship Id="rId2" Type="http://schemas.openxmlformats.org/officeDocument/2006/relationships/image" Target="../media/image2.png"/><Relationship Id="rId1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5.xml"/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20.xml"/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21.xml"/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28.xml"/><Relationship Id="rId2" Type="http://schemas.openxmlformats.org/officeDocument/2006/relationships/image" Target="../media/image2.png"/><Relationship Id="rId1" Type="http://schemas.openxmlformats.org/officeDocument/2006/relationships/image" Target="../media/image3.jpe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22.xml"/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image" Target="../media/image3.jpe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23.xml"/><Relationship Id="rId2" Type="http://schemas.openxmlformats.org/officeDocument/2006/relationships/image" Target="../media/image2.png"/><Relationship Id="rId1" Type="http://schemas.openxmlformats.org/officeDocument/2006/relationships/image" Target="../media/image3.jpe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24.xml"/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image" Target="../media/image3.jpe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25.xml"/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image" Target="../media/image3.jpe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26.xml"/><Relationship Id="rId2" Type="http://schemas.openxmlformats.org/officeDocument/2006/relationships/image" Target="../media/image2.png"/><Relationship Id="rId1" Type="http://schemas.openxmlformats.org/officeDocument/2006/relationships/image" Target="../media/image3.jpe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27.xml"/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image" Target="../media/image3.jpe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1684020"/>
            <a:ext cx="1219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005BAC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2026临床营养规范诊疗系列学术</a:t>
            </a:r>
            <a:r>
              <a:rPr lang="zh-CN" altLang="en-US" sz="4800" b="1" i="0" u="none" strike="noStrike">
                <a:solidFill>
                  <a:srgbClr val="005BAC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交流会</a:t>
            </a:r>
            <a:endParaRPr lang="en-US" sz="4800" b="1" i="0" u="none" strike="noStrike">
              <a:solidFill>
                <a:srgbClr val="EAF2F6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4" name="文本框 9" descr="7b0a2020202022776f7264617274223a2022220a7d0a"/>
          <p:cNvSpPr txBox="1"/>
          <p:nvPr>
            <p:custDataLst>
              <p:tags r:id="rId2"/>
            </p:custDataLst>
          </p:nvPr>
        </p:nvSpPr>
        <p:spPr>
          <a:xfrm>
            <a:off x="3479483" y="5118100"/>
            <a:ext cx="4774565" cy="808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ctr" fontAlgn="auto">
              <a:lnSpc>
                <a:spcPts val="2800"/>
              </a:lnSpc>
            </a:pPr>
            <a:r>
              <a:rPr lang="zh-CN" altLang="en-US" sz="2000" b="1">
                <a:ln w="6773"/>
                <a:solidFill>
                  <a:srgbClr val="0F4C95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主办单位：山东省亚健康防治协会</a:t>
            </a:r>
            <a:endParaRPr lang="en-US" sz="2000" b="1">
              <a:ln w="6773"/>
              <a:solidFill>
                <a:srgbClr val="0F4C95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algn="ctr" fontAlgn="auto">
              <a:lnSpc>
                <a:spcPts val="2800"/>
              </a:lnSpc>
            </a:pPr>
            <a:r>
              <a:rPr lang="en-US" sz="2000" b="1">
                <a:ln w="6773"/>
                <a:solidFill>
                  <a:srgbClr val="0F4C95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2026</a:t>
            </a:r>
            <a:r>
              <a:rPr lang="zh-CN" altLang="en-US" sz="2000" b="1">
                <a:ln w="6773"/>
                <a:solidFill>
                  <a:srgbClr val="0F4C95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年</a:t>
            </a:r>
            <a:r>
              <a:rPr lang="en-US" altLang="zh-CN" sz="2000" b="1">
                <a:ln w="6773"/>
                <a:solidFill>
                  <a:srgbClr val="0F4C95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9</a:t>
            </a:r>
            <a:r>
              <a:rPr lang="zh-CN" altLang="en-US" sz="2000" b="1">
                <a:ln w="6773"/>
                <a:solidFill>
                  <a:srgbClr val="0F4C95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月</a:t>
            </a:r>
            <a:r>
              <a:rPr lang="en-US" altLang="zh-CN" sz="2000" b="1">
                <a:ln w="6773"/>
                <a:solidFill>
                  <a:srgbClr val="0F4C95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7</a:t>
            </a:r>
            <a:r>
              <a:rPr lang="zh-CN" altLang="en-US" sz="2000" b="1">
                <a:ln w="6773"/>
                <a:solidFill>
                  <a:srgbClr val="0F4C95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日</a:t>
            </a:r>
            <a:endParaRPr lang="zh-CN" altLang="en-US" sz="2000" b="1">
              <a:ln w="6773"/>
              <a:solidFill>
                <a:srgbClr val="0F4C95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5" name="图片 4" descr="1a46d48293b873f8213336feae26401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715" y="172085"/>
            <a:ext cx="998855" cy="97853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文本框 23"/>
          <p:cNvSpPr txBox="1"/>
          <p:nvPr/>
        </p:nvSpPr>
        <p:spPr>
          <a:xfrm>
            <a:off x="0" y="2089150"/>
            <a:ext cx="12192000" cy="1062355"/>
          </a:xfrm>
          <a:prstGeom prst="rect">
            <a:avLst/>
          </a:prstGeom>
          <a:noFill/>
        </p:spPr>
        <p:txBody>
          <a:bodyPr wrap="square" rtlCol="0" anchor="ctr" anchorCtr="0">
            <a:noAutofit/>
            <a:scene3d>
              <a:camera prst="orthographicFront"/>
              <a:lightRig rig="threePt" dir="t"/>
            </a:scene3d>
          </a:bodyPr>
          <a:lstStyle/>
          <a:p>
            <a:pPr algn="ctr" eaLnBrk="1" hangingPunct="1">
              <a:lnSpc>
                <a:spcPct val="100000"/>
              </a:lnSpc>
              <a:defRPr/>
            </a:pPr>
            <a:r>
              <a:rPr kumimoji="1" lang="zh-CN" altLang="en-US" sz="7200" b="1" dirty="0">
                <a:solidFill>
                  <a:srgbClr val="0F4C9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主</a:t>
            </a:r>
            <a:r>
              <a:rPr kumimoji="1" lang="en-US" altLang="zh-CN" sz="7200" b="1" dirty="0">
                <a:solidFill>
                  <a:srgbClr val="0F4C9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kumimoji="1" lang="zh-CN" altLang="en-US" sz="7200" b="1" dirty="0">
                <a:solidFill>
                  <a:srgbClr val="0F4C9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席</a:t>
            </a:r>
            <a:r>
              <a:rPr kumimoji="1" lang="en-US" altLang="zh-CN" sz="7200" b="1" dirty="0">
                <a:solidFill>
                  <a:srgbClr val="0F4C9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kumimoji="1" lang="zh-CN" altLang="en-US" sz="7200" b="1" dirty="0">
                <a:solidFill>
                  <a:srgbClr val="0F4C9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致</a:t>
            </a:r>
            <a:r>
              <a:rPr kumimoji="1" lang="en-US" altLang="zh-CN" sz="7200" b="1" dirty="0">
                <a:solidFill>
                  <a:srgbClr val="0F4C9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kumimoji="1" lang="zh-CN" altLang="en-US" sz="7200" b="1" dirty="0">
                <a:solidFill>
                  <a:srgbClr val="0F4C9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辞</a:t>
            </a:r>
            <a:endParaRPr kumimoji="1" lang="zh-CN" altLang="en-US" sz="72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solidFill>
                <a:srgbClr val="0F4C95"/>
              </a:solidFill>
              <a:effectLst>
                <a:innerShdw blurRad="177800">
                  <a:schemeClr val="accent3">
                    <a:lumMod val="50000"/>
                  </a:schemeClr>
                </a:inn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2965450" y="4142105"/>
            <a:ext cx="6261100" cy="737235"/>
          </a:xfrm>
          <a:prstGeom prst="rect">
            <a:avLst/>
          </a:prstGeom>
          <a:noFill/>
          <a:ln>
            <a:noFill/>
          </a:ln>
        </p:spPr>
        <p:txBody>
          <a:bodyPr vert="horz" wrap="square" rtlCol="0" anchor="ctr" anchorCtr="0">
            <a:spAutoFit/>
            <a:scene3d>
              <a:camera prst="orthographicFront"/>
              <a:lightRig rig="threePt" dir="t"/>
            </a:scene3d>
          </a:bodyPr>
          <a:lstStyle/>
          <a:p>
            <a:pPr indent="0" algn="ctr" fontAlgn="ctr">
              <a:lnSpc>
                <a:spcPct val="150000"/>
              </a:lnSpc>
              <a:buNone/>
            </a:pPr>
            <a:r>
              <a:rPr lang="zh-CN" altLang="en-US" sz="2800" b="1">
                <a:solidFill>
                  <a:srgbClr val="0F4C95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邹本奎 </a:t>
            </a:r>
            <a:r>
              <a:rPr lang="en-US" altLang="zh-CN" sz="2800" b="1">
                <a:solidFill>
                  <a:srgbClr val="0F4C95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2800" b="1">
                <a:solidFill>
                  <a:srgbClr val="0F4C95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教授</a:t>
            </a:r>
            <a:r>
              <a:rPr lang="en-US" altLang="zh-CN" sz="2800" b="1">
                <a:solidFill>
                  <a:srgbClr val="0F4C95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  </a:t>
            </a:r>
            <a:r>
              <a:rPr lang="zh-CN" altLang="en-US" sz="2800" b="1">
                <a:solidFill>
                  <a:srgbClr val="0F4C95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山东省肿瘤医院</a:t>
            </a:r>
            <a:endParaRPr kumimoji="1" lang="zh-CN" altLang="en-US" sz="2800" b="1" dirty="0">
              <a:ln w="12700">
                <a:noFill/>
                <a:prstDash val="solid"/>
              </a:ln>
              <a:solidFill>
                <a:srgbClr val="0F4C95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8" name="文本框 27"/>
          <p:cNvSpPr txBox="1"/>
          <p:nvPr userDrawn="1"/>
        </p:nvSpPr>
        <p:spPr>
          <a:xfrm>
            <a:off x="1489710" y="368935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None/>
            </a:pPr>
            <a:r>
              <a:rPr lang="zh-CN" altLang="en-US" sz="2400" b="1" spc="200">
                <a:ln w="12700" cmpd="sng">
                  <a:noFill/>
                  <a:prstDash val="solid"/>
                </a:ln>
                <a:solidFill>
                  <a:schemeClr val="accent5">
                    <a:lumMod val="50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2026临床营养规范诊疗系列学术交流会</a:t>
            </a:r>
            <a:endParaRPr lang="zh-CN" altLang="en-US" sz="2400" b="1" spc="200">
              <a:ln w="12700" cmpd="sng">
                <a:noFill/>
                <a:prstDash val="solid"/>
              </a:ln>
              <a:solidFill>
                <a:schemeClr val="accent5">
                  <a:lumMod val="50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29" name="图片 28" descr="1a46d48293b873f8213336feae26401a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77825" y="123825"/>
            <a:ext cx="969645" cy="95059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文本框 27"/>
          <p:cNvSpPr txBox="1"/>
          <p:nvPr userDrawn="1"/>
        </p:nvSpPr>
        <p:spPr>
          <a:xfrm>
            <a:off x="1489710" y="368935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None/>
            </a:pPr>
            <a:r>
              <a:rPr lang="zh-CN" altLang="en-US" sz="2400" b="1" spc="200">
                <a:ln w="12700" cmpd="sng">
                  <a:noFill/>
                  <a:prstDash val="solid"/>
                </a:ln>
                <a:solidFill>
                  <a:schemeClr val="accent5">
                    <a:lumMod val="50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2026临床营养规范诊疗系列学术交流会</a:t>
            </a:r>
            <a:endParaRPr lang="zh-CN" altLang="en-US" sz="2400" b="1" spc="200">
              <a:ln w="12700" cmpd="sng">
                <a:noFill/>
                <a:prstDash val="solid"/>
              </a:ln>
              <a:solidFill>
                <a:schemeClr val="accent5">
                  <a:lumMod val="50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29" name="图片 28" descr="1a46d48293b873f8213336feae26401a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77825" y="123825"/>
            <a:ext cx="969645" cy="950595"/>
          </a:xfrm>
          <a:prstGeom prst="rect">
            <a:avLst/>
          </a:prstGeom>
        </p:spPr>
      </p:pic>
      <p:sp>
        <p:nvSpPr>
          <p:cNvPr id="4" name="矩形: 圆角 11"/>
          <p:cNvSpPr/>
          <p:nvPr/>
        </p:nvSpPr>
        <p:spPr>
          <a:xfrm>
            <a:off x="1726480" y="1288268"/>
            <a:ext cx="1470959" cy="358623"/>
          </a:xfrm>
          <a:prstGeom prst="roundRect">
            <a:avLst>
              <a:gd name="adj" fmla="val 20014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大会主席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408170" y="1699895"/>
            <a:ext cx="7524750" cy="40309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indent="0" fontAlgn="auto">
              <a:lnSpc>
                <a:spcPct val="200000"/>
              </a:lnSpc>
            </a:pPr>
            <a:r>
              <a:rPr lang="zh-CN" altLang="en-US" sz="1600" b="1" kern="0" noProof="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山东第一医科大学附属省立医院血液科，副主任医师</a:t>
            </a:r>
            <a:endParaRPr lang="zh-CN" altLang="en-US" sz="1600" b="1" kern="0" noProof="0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200000"/>
              </a:lnSpc>
            </a:pPr>
            <a:r>
              <a:rPr lang="zh-CN" altLang="en-US" sz="1600" b="1" kern="0" noProof="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医学博士，硕士研究生导师</a:t>
            </a:r>
            <a:endParaRPr lang="zh-CN" altLang="en-US" sz="1600" b="1" kern="0" noProof="0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200000"/>
              </a:lnSpc>
            </a:pPr>
            <a:r>
              <a:rPr lang="zh-CN" altLang="en-US" sz="1600" b="1" kern="0" noProof="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山东省研究型医院学会血液病分会副主任委员</a:t>
            </a:r>
            <a:endParaRPr lang="zh-CN" altLang="en-US" sz="1600" b="1" kern="0" noProof="0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200000"/>
              </a:lnSpc>
            </a:pPr>
            <a:r>
              <a:rPr lang="zh-CN" altLang="en-US" sz="1600" b="1" kern="0" noProof="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山东临床肿瘤学会抗白血病专委会</a:t>
            </a:r>
            <a:r>
              <a:rPr lang="en-US" altLang="zh-CN" sz="1600" b="1" kern="0" noProof="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MDN/MPN</a:t>
            </a:r>
            <a:r>
              <a:rPr lang="zh-CN" altLang="en-US" sz="1600" b="1" kern="0" noProof="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学组副组长 </a:t>
            </a:r>
            <a:endParaRPr lang="zh-CN" altLang="en-US" sz="1600" b="1" kern="0" noProof="0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200000"/>
              </a:lnSpc>
            </a:pPr>
            <a:r>
              <a:rPr lang="zh-CN" altLang="en-US" sz="1600" b="1" kern="0" noProof="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山东省医师协会血液学分会委员</a:t>
            </a:r>
            <a:endParaRPr lang="zh-CN" altLang="en-US" sz="1600" b="1" kern="0" noProof="0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200000"/>
              </a:lnSpc>
            </a:pPr>
            <a:r>
              <a:rPr lang="zh-CN" altLang="en-US" sz="1600" b="1" kern="0" noProof="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中国抗癌协会中西医结合分会委员</a:t>
            </a:r>
            <a:endParaRPr lang="zh-CN" altLang="en-US" sz="1600" b="1" kern="0" noProof="0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200000"/>
              </a:lnSpc>
            </a:pPr>
            <a:r>
              <a:rPr lang="zh-CN" altLang="en-US" sz="1600" b="1" kern="0" noProof="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中国初级卫生保健基金会血液病学专业委员会委员</a:t>
            </a:r>
            <a:endParaRPr lang="en-US" altLang="zh-CN" sz="1600" b="1" kern="0" noProof="0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200000"/>
              </a:lnSpc>
            </a:pPr>
            <a:r>
              <a:rPr lang="zh-CN" altLang="en-US" sz="1600" b="1" kern="0" noProof="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中国医药教育协会</a:t>
            </a:r>
            <a:r>
              <a:rPr lang="en-US" altLang="zh-CN" sz="1600" b="1" kern="0" noProof="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MDS/MPN</a:t>
            </a:r>
            <a:r>
              <a:rPr lang="zh-CN" altLang="en-US" sz="1600" b="1" kern="0" noProof="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分会委员</a:t>
            </a:r>
            <a:endParaRPr lang="zh-CN" altLang="en-US" sz="1600" b="1" kern="0" noProof="0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1" name="Rectangle 2"/>
          <p:cNvSpPr txBox="1">
            <a:spLocks noChangeArrowheads="1"/>
          </p:cNvSpPr>
          <p:nvPr/>
        </p:nvSpPr>
        <p:spPr>
          <a:xfrm>
            <a:off x="740428" y="4809600"/>
            <a:ext cx="3443064" cy="1000174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2400" b="1" kern="0">
                <a:solidFill>
                  <a:srgbClr val="0F4C95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邹本奎  教授</a:t>
            </a:r>
            <a:endParaRPr lang="zh-CN" altLang="en-US" sz="2800" b="1" kern="0">
              <a:solidFill>
                <a:srgbClr val="0F4C95"/>
              </a:solidFill>
              <a:effectLst/>
              <a:latin typeface="微软雅黑" panose="020B0503020204020204" charset="-122"/>
              <a:ea typeface="微软雅黑" panose="020B0503020204020204" charset="-122"/>
              <a:cs typeface="Arial" panose="020B0604020202020204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800" b="1" kern="0">
                <a:solidFill>
                  <a:srgbClr val="0F4C95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山东省</a:t>
            </a:r>
            <a:r>
              <a:rPr lang="zh-CN" altLang="en-US" sz="1800" b="1" kern="0">
                <a:solidFill>
                  <a:srgbClr val="0F4C95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肿瘤医院</a:t>
            </a:r>
            <a:endParaRPr lang="zh-CN" altLang="en-US" sz="1800" b="1" kern="0" dirty="0">
              <a:solidFill>
                <a:srgbClr val="0F4C95"/>
              </a:solidFill>
              <a:effectLst/>
              <a:latin typeface="微软雅黑" panose="020B0503020204020204" charset="-122"/>
              <a:ea typeface="微软雅黑" panose="020B0503020204020204" charset="-122"/>
              <a:cs typeface="Arial" panose="020B0604020202020204"/>
              <a:sym typeface="+mn-ea"/>
            </a:endParaRPr>
          </a:p>
        </p:txBody>
      </p:sp>
      <p:pic>
        <p:nvPicPr>
          <p:cNvPr id="12" name="IM 2" descr="C:/Users/Administrator/Desktop/9.7费卡 郝风阳/专家照片/1-邹本奎.png1-邹本奎"/>
          <p:cNvPicPr/>
          <p:nvPr/>
        </p:nvPicPr>
        <p:blipFill>
          <a:blip r:embed="rId3"/>
          <a:srcRect l="956" r="1092"/>
          <a:stretch>
            <a:fillRect/>
          </a:stretch>
        </p:blipFill>
        <p:spPr>
          <a:xfrm>
            <a:off x="1383030" y="1904400"/>
            <a:ext cx="2160000" cy="2876400"/>
          </a:xfrm>
          <a:prstGeom prst="roundRect">
            <a:avLst/>
          </a:prstGeom>
          <a:gradFill>
            <a:gsLst>
              <a:gs pos="0">
                <a:srgbClr val="BDBCBC"/>
              </a:gs>
              <a:gs pos="100000">
                <a:srgbClr val="DCDCDC"/>
              </a:gs>
            </a:gsLst>
            <a:lin ang="5400000" scaled="0"/>
          </a:gradFill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文本框 27"/>
          <p:cNvSpPr txBox="1"/>
          <p:nvPr userDrawn="1"/>
        </p:nvSpPr>
        <p:spPr>
          <a:xfrm>
            <a:off x="1489710" y="368935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None/>
            </a:pPr>
            <a:r>
              <a:rPr lang="zh-CN" altLang="en-US" sz="2400" b="1" spc="200">
                <a:ln w="12700" cmpd="sng">
                  <a:noFill/>
                  <a:prstDash val="solid"/>
                </a:ln>
                <a:solidFill>
                  <a:schemeClr val="accent5">
                    <a:lumMod val="50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2026临床营养规范诊疗系列学术交流会</a:t>
            </a:r>
            <a:endParaRPr lang="zh-CN" altLang="en-US" sz="2400" b="1" spc="200">
              <a:ln w="12700" cmpd="sng">
                <a:noFill/>
                <a:prstDash val="solid"/>
              </a:ln>
              <a:solidFill>
                <a:schemeClr val="accent5">
                  <a:lumMod val="50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29" name="图片 28" descr="1a46d48293b873f8213336feae26401a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77825" y="123825"/>
            <a:ext cx="969645" cy="950595"/>
          </a:xfrm>
          <a:prstGeom prst="rect">
            <a:avLst/>
          </a:prstGeom>
        </p:spPr>
      </p:pic>
      <p:sp>
        <p:nvSpPr>
          <p:cNvPr id="4" name="矩形: 圆角 11"/>
          <p:cNvSpPr/>
          <p:nvPr/>
        </p:nvSpPr>
        <p:spPr>
          <a:xfrm>
            <a:off x="1726480" y="1288268"/>
            <a:ext cx="1470959" cy="358623"/>
          </a:xfrm>
          <a:prstGeom prst="roundRect">
            <a:avLst>
              <a:gd name="adj" fmla="val 20014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大会主持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408170" y="1699895"/>
            <a:ext cx="7524750" cy="40309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indent="0" fontAlgn="auto">
              <a:lnSpc>
                <a:spcPct val="200000"/>
              </a:lnSpc>
            </a:pPr>
            <a:r>
              <a:rPr lang="zh-CN" altLang="en-US" sz="1600" b="1" kern="0" noProof="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山东第一医科大学附属省立医院血液科，副主任医师</a:t>
            </a:r>
            <a:endParaRPr lang="zh-CN" altLang="en-US" sz="1600" b="1" kern="0" noProof="0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200000"/>
              </a:lnSpc>
            </a:pPr>
            <a:r>
              <a:rPr lang="zh-CN" altLang="en-US" sz="1600" b="1" kern="0" noProof="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医学博士，硕士研究生导师</a:t>
            </a:r>
            <a:endParaRPr lang="zh-CN" altLang="en-US" sz="1600" b="1" kern="0" noProof="0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200000"/>
              </a:lnSpc>
            </a:pPr>
            <a:r>
              <a:rPr lang="zh-CN" altLang="en-US" sz="1600" b="1" kern="0" noProof="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山东省研究型医院学会血液病分会副主任委员</a:t>
            </a:r>
            <a:endParaRPr lang="zh-CN" altLang="en-US" sz="1600" b="1" kern="0" noProof="0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200000"/>
              </a:lnSpc>
            </a:pPr>
            <a:r>
              <a:rPr lang="zh-CN" altLang="en-US" sz="1600" b="1" kern="0" noProof="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山东临床肿瘤学会抗白血病专委会</a:t>
            </a:r>
            <a:r>
              <a:rPr lang="en-US" altLang="zh-CN" sz="1600" b="1" kern="0" noProof="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MDN/MPN</a:t>
            </a:r>
            <a:r>
              <a:rPr lang="zh-CN" altLang="en-US" sz="1600" b="1" kern="0" noProof="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学组副组长 </a:t>
            </a:r>
            <a:endParaRPr lang="zh-CN" altLang="en-US" sz="1600" b="1" kern="0" noProof="0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200000"/>
              </a:lnSpc>
            </a:pPr>
            <a:r>
              <a:rPr lang="zh-CN" altLang="en-US" sz="1600" b="1" kern="0" noProof="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山东省医师协会血液学分会委员</a:t>
            </a:r>
            <a:endParaRPr lang="zh-CN" altLang="en-US" sz="1600" b="1" kern="0" noProof="0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200000"/>
              </a:lnSpc>
            </a:pPr>
            <a:r>
              <a:rPr lang="zh-CN" altLang="en-US" sz="1600" b="1" kern="0" noProof="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中国抗癌协会中西医结合分会委员</a:t>
            </a:r>
            <a:endParaRPr lang="zh-CN" altLang="en-US" sz="1600" b="1" kern="0" noProof="0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200000"/>
              </a:lnSpc>
            </a:pPr>
            <a:r>
              <a:rPr lang="zh-CN" altLang="en-US" sz="1600" b="1" kern="0" noProof="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中国初级卫生保健基金会血液病学专业委员会委员</a:t>
            </a:r>
            <a:endParaRPr lang="en-US" altLang="zh-CN" sz="1600" b="1" kern="0" noProof="0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200000"/>
              </a:lnSpc>
            </a:pPr>
            <a:r>
              <a:rPr lang="zh-CN" altLang="en-US" sz="1600" b="1" kern="0" noProof="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中国医药教育协会</a:t>
            </a:r>
            <a:r>
              <a:rPr lang="en-US" altLang="zh-CN" sz="1600" b="1" kern="0" noProof="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MDS/MPN</a:t>
            </a:r>
            <a:r>
              <a:rPr lang="zh-CN" altLang="en-US" sz="1600" b="1" kern="0" noProof="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分会委员</a:t>
            </a:r>
            <a:endParaRPr lang="zh-CN" altLang="en-US" sz="1600" b="1" kern="0" noProof="0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12" name="IM 2" descr="C:/Users/Administrator/Desktop/9.7费卡 郝风阳/专家照片/2-高超.png2-高超"/>
          <p:cNvPicPr/>
          <p:nvPr/>
        </p:nvPicPr>
        <p:blipFill>
          <a:blip r:embed="rId3"/>
          <a:srcRect l="1496" t="8673" r="7599" b="10272"/>
          <a:stretch>
            <a:fillRect/>
          </a:stretch>
        </p:blipFill>
        <p:spPr>
          <a:xfrm>
            <a:off x="1383030" y="1904400"/>
            <a:ext cx="2160000" cy="2876400"/>
          </a:xfrm>
          <a:prstGeom prst="roundRect">
            <a:avLst/>
          </a:prstGeom>
          <a:gradFill>
            <a:gsLst>
              <a:gs pos="0">
                <a:srgbClr val="BDBCBC"/>
              </a:gs>
              <a:gs pos="100000">
                <a:srgbClr val="DCDCDC"/>
              </a:gs>
            </a:gsLst>
            <a:lin ang="5400000" scaled="0"/>
          </a:gradFill>
        </p:spPr>
      </p:pic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740428" y="4809600"/>
            <a:ext cx="3443064" cy="1000174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2400" b="1" kern="0">
                <a:solidFill>
                  <a:srgbClr val="0F4C95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高</a:t>
            </a:r>
            <a:r>
              <a:rPr lang="zh-CN" altLang="en-US" sz="2400" b="1" kern="0">
                <a:solidFill>
                  <a:srgbClr val="0F4C95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Arial" panose="020B0604020202020204"/>
              </a:rPr>
              <a:t>　</a:t>
            </a:r>
            <a:r>
              <a:rPr lang="zh-CN" altLang="en-US" sz="2400" b="1" kern="0">
                <a:solidFill>
                  <a:srgbClr val="0F4C95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超  教授</a:t>
            </a:r>
            <a:endParaRPr lang="zh-CN" altLang="en-US" sz="2800" b="1" kern="0">
              <a:solidFill>
                <a:srgbClr val="0F4C95"/>
              </a:solidFill>
              <a:effectLst/>
              <a:latin typeface="微软雅黑" panose="020B0503020204020204" charset="-122"/>
              <a:ea typeface="微软雅黑" panose="020B0503020204020204" charset="-122"/>
              <a:cs typeface="Arial" panose="020B0604020202020204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800" b="1" kern="0">
                <a:solidFill>
                  <a:srgbClr val="0F4C95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山东大学</a:t>
            </a:r>
            <a:r>
              <a:rPr lang="zh-CN" altLang="en-US" sz="1800" b="1" kern="0">
                <a:solidFill>
                  <a:srgbClr val="0F4C95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齐鲁医院</a:t>
            </a:r>
            <a:endParaRPr lang="zh-CN" altLang="en-US" sz="1800" b="1" kern="0" dirty="0">
              <a:solidFill>
                <a:srgbClr val="0F4C95"/>
              </a:solidFill>
              <a:effectLst/>
              <a:latin typeface="微软雅黑" panose="020B0503020204020204" charset="-122"/>
              <a:ea typeface="微软雅黑" panose="020B0503020204020204" charset="-122"/>
              <a:cs typeface="Arial" panose="020B0604020202020204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文本框 23"/>
          <p:cNvSpPr txBox="1"/>
          <p:nvPr/>
        </p:nvSpPr>
        <p:spPr>
          <a:xfrm>
            <a:off x="0" y="2204720"/>
            <a:ext cx="12192000" cy="1062355"/>
          </a:xfrm>
          <a:prstGeom prst="rect">
            <a:avLst/>
          </a:prstGeom>
          <a:noFill/>
        </p:spPr>
        <p:txBody>
          <a:bodyPr wrap="square" rtlCol="0" anchor="ctr" anchorCtr="0">
            <a:noAutofit/>
            <a:scene3d>
              <a:camera prst="orthographicFront"/>
              <a:lightRig rig="threePt" dir="t"/>
            </a:scene3d>
          </a:bodyPr>
          <a:lstStyle/>
          <a:p>
            <a:pPr algn="ctr" eaLnBrk="1" hangingPunct="1">
              <a:lnSpc>
                <a:spcPct val="100000"/>
              </a:lnSpc>
              <a:defRPr/>
            </a:pPr>
            <a:r>
              <a:rPr kumimoji="1" lang="zh-CN" altLang="en-US" sz="4400" b="1" dirty="0">
                <a:solidFill>
                  <a:srgbClr val="0F4C9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MDT导向前列腺肉瘤个体化治疗路径探索</a:t>
            </a:r>
            <a:endParaRPr kumimoji="1" lang="zh-CN" altLang="en-US" sz="44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solidFill>
                <a:srgbClr val="0F4C95"/>
              </a:solidFill>
              <a:effectLst>
                <a:innerShdw blurRad="177800">
                  <a:schemeClr val="accent3">
                    <a:lumMod val="50000"/>
                  </a:schemeClr>
                </a:inn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2965450" y="3429000"/>
            <a:ext cx="6261100" cy="737235"/>
          </a:xfrm>
          <a:prstGeom prst="rect">
            <a:avLst/>
          </a:prstGeom>
          <a:noFill/>
          <a:ln>
            <a:noFill/>
          </a:ln>
        </p:spPr>
        <p:txBody>
          <a:bodyPr vert="horz" wrap="square" rtlCol="0" anchor="ctr" anchorCtr="0">
            <a:spAutoFit/>
            <a:scene3d>
              <a:camera prst="orthographicFront"/>
              <a:lightRig rig="threePt" dir="t"/>
            </a:scene3d>
          </a:bodyPr>
          <a:lstStyle/>
          <a:p>
            <a:pPr indent="0" algn="ctr" fontAlgn="ctr">
              <a:lnSpc>
                <a:spcPct val="150000"/>
              </a:lnSpc>
              <a:buNone/>
            </a:pPr>
            <a:r>
              <a:rPr lang="zh-CN" altLang="en-US" sz="2800" b="1">
                <a:solidFill>
                  <a:srgbClr val="0F4C95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郭任博 </a:t>
            </a:r>
            <a:r>
              <a:rPr lang="en-US" altLang="zh-CN" sz="2800" b="1">
                <a:solidFill>
                  <a:srgbClr val="0F4C95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2800" b="1">
                <a:solidFill>
                  <a:srgbClr val="0F4C95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教授</a:t>
            </a:r>
            <a:r>
              <a:rPr lang="en-US" altLang="zh-CN" sz="2800" b="1">
                <a:solidFill>
                  <a:srgbClr val="0F4C95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  </a:t>
            </a:r>
            <a:r>
              <a:rPr lang="zh-CN" altLang="en-US" sz="2800" b="1">
                <a:solidFill>
                  <a:srgbClr val="0F4C95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山东省</a:t>
            </a:r>
            <a:r>
              <a:rPr lang="zh-CN" altLang="en-US" sz="2800" b="1">
                <a:solidFill>
                  <a:srgbClr val="0F4C95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肿瘤医院</a:t>
            </a:r>
            <a:endParaRPr kumimoji="1" lang="zh-CN" altLang="en-US" sz="2800" b="1" dirty="0">
              <a:ln w="12700">
                <a:noFill/>
                <a:prstDash val="solid"/>
              </a:ln>
              <a:solidFill>
                <a:srgbClr val="0F4C95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8" name="文本框 27"/>
          <p:cNvSpPr txBox="1"/>
          <p:nvPr userDrawn="1"/>
        </p:nvSpPr>
        <p:spPr>
          <a:xfrm>
            <a:off x="1489710" y="368935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None/>
            </a:pPr>
            <a:r>
              <a:rPr lang="zh-CN" altLang="en-US" sz="2400" b="1" spc="200">
                <a:ln w="12700" cmpd="sng">
                  <a:noFill/>
                  <a:prstDash val="solid"/>
                </a:ln>
                <a:solidFill>
                  <a:schemeClr val="accent5">
                    <a:lumMod val="50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2026临床营养规范诊疗系列学术交流会</a:t>
            </a:r>
            <a:endParaRPr lang="zh-CN" altLang="en-US" sz="2400" b="1" spc="200">
              <a:ln w="12700" cmpd="sng">
                <a:noFill/>
                <a:prstDash val="solid"/>
              </a:ln>
              <a:solidFill>
                <a:schemeClr val="accent5">
                  <a:lumMod val="50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29" name="图片 28" descr="1a46d48293b873f8213336feae26401a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77825" y="123825"/>
            <a:ext cx="969645" cy="95059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文本框 27"/>
          <p:cNvSpPr txBox="1"/>
          <p:nvPr userDrawn="1"/>
        </p:nvSpPr>
        <p:spPr>
          <a:xfrm>
            <a:off x="1489710" y="368935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None/>
            </a:pPr>
            <a:r>
              <a:rPr lang="zh-CN" altLang="en-US" sz="2400" b="1" spc="200">
                <a:ln w="12700" cmpd="sng">
                  <a:noFill/>
                  <a:prstDash val="solid"/>
                </a:ln>
                <a:solidFill>
                  <a:schemeClr val="accent5">
                    <a:lumMod val="50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2026临床营养规范诊疗系列学术交流会</a:t>
            </a:r>
            <a:endParaRPr lang="zh-CN" altLang="en-US" sz="2400" b="1" spc="200">
              <a:ln w="12700" cmpd="sng">
                <a:noFill/>
                <a:prstDash val="solid"/>
              </a:ln>
              <a:solidFill>
                <a:schemeClr val="accent5">
                  <a:lumMod val="50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29" name="图片 28" descr="1a46d48293b873f8213336feae26401a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77825" y="123825"/>
            <a:ext cx="969645" cy="950595"/>
          </a:xfrm>
          <a:prstGeom prst="rect">
            <a:avLst/>
          </a:prstGeom>
        </p:spPr>
      </p:pic>
      <p:sp>
        <p:nvSpPr>
          <p:cNvPr id="4" name="矩形: 圆角 11"/>
          <p:cNvSpPr/>
          <p:nvPr/>
        </p:nvSpPr>
        <p:spPr>
          <a:xfrm>
            <a:off x="1726480" y="1288268"/>
            <a:ext cx="1470959" cy="358623"/>
          </a:xfrm>
          <a:prstGeom prst="roundRect">
            <a:avLst>
              <a:gd name="adj" fmla="val 20014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大会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讲者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408170" y="1699895"/>
            <a:ext cx="7524750" cy="40309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indent="0" fontAlgn="auto">
              <a:lnSpc>
                <a:spcPct val="200000"/>
              </a:lnSpc>
            </a:pPr>
            <a:r>
              <a:rPr lang="zh-CN" altLang="en-US" sz="1600" b="1" kern="0" noProof="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山东第一医科大学附属省立医院血液科，副主任医师</a:t>
            </a:r>
            <a:endParaRPr lang="zh-CN" altLang="en-US" sz="1600" b="1" kern="0" noProof="0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200000"/>
              </a:lnSpc>
            </a:pPr>
            <a:r>
              <a:rPr lang="zh-CN" altLang="en-US" sz="1600" b="1" kern="0" noProof="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医学博士，硕士研究生导师</a:t>
            </a:r>
            <a:endParaRPr lang="zh-CN" altLang="en-US" sz="1600" b="1" kern="0" noProof="0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200000"/>
              </a:lnSpc>
            </a:pPr>
            <a:r>
              <a:rPr lang="zh-CN" altLang="en-US" sz="1600" b="1" kern="0" noProof="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山东省研究型医院学会血液病分会副主任委员</a:t>
            </a:r>
            <a:endParaRPr lang="zh-CN" altLang="en-US" sz="1600" b="1" kern="0" noProof="0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200000"/>
              </a:lnSpc>
            </a:pPr>
            <a:r>
              <a:rPr lang="zh-CN" altLang="en-US" sz="1600" b="1" kern="0" noProof="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山东临床肿瘤学会抗白血病专委会</a:t>
            </a:r>
            <a:r>
              <a:rPr lang="en-US" altLang="zh-CN" sz="1600" b="1" kern="0" noProof="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MDN/MPN</a:t>
            </a:r>
            <a:r>
              <a:rPr lang="zh-CN" altLang="en-US" sz="1600" b="1" kern="0" noProof="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学组副组长 </a:t>
            </a:r>
            <a:endParaRPr lang="zh-CN" altLang="en-US" sz="1600" b="1" kern="0" noProof="0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200000"/>
              </a:lnSpc>
            </a:pPr>
            <a:r>
              <a:rPr lang="zh-CN" altLang="en-US" sz="1600" b="1" kern="0" noProof="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山东省医师协会血液学分会委员</a:t>
            </a:r>
            <a:endParaRPr lang="zh-CN" altLang="en-US" sz="1600" b="1" kern="0" noProof="0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200000"/>
              </a:lnSpc>
            </a:pPr>
            <a:r>
              <a:rPr lang="zh-CN" altLang="en-US" sz="1600" b="1" kern="0" noProof="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中国抗癌协会中西医结合分会委员</a:t>
            </a:r>
            <a:endParaRPr lang="zh-CN" altLang="en-US" sz="1600" b="1" kern="0" noProof="0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200000"/>
              </a:lnSpc>
            </a:pPr>
            <a:r>
              <a:rPr lang="zh-CN" altLang="en-US" sz="1600" b="1" kern="0" noProof="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中国初级卫生保健基金会血液病学专业委员会委员</a:t>
            </a:r>
            <a:endParaRPr lang="en-US" altLang="zh-CN" sz="1600" b="1" kern="0" noProof="0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200000"/>
              </a:lnSpc>
            </a:pPr>
            <a:r>
              <a:rPr lang="zh-CN" altLang="en-US" sz="1600" b="1" kern="0" noProof="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中国医药教育协会</a:t>
            </a:r>
            <a:r>
              <a:rPr lang="en-US" altLang="zh-CN" sz="1600" b="1" kern="0" noProof="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MDS/MPN</a:t>
            </a:r>
            <a:r>
              <a:rPr lang="zh-CN" altLang="en-US" sz="1600" b="1" kern="0" noProof="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分会委员</a:t>
            </a:r>
            <a:endParaRPr lang="zh-CN" altLang="en-US" sz="1600" b="1" kern="0" noProof="0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12" name="IM 2" descr="C:/Users/Administrator/Desktop/9.7费卡 郝风阳/专家照片/3-郭任博.png3-郭任博"/>
          <p:cNvPicPr/>
          <p:nvPr/>
        </p:nvPicPr>
        <p:blipFill>
          <a:blip r:embed="rId3"/>
          <a:srcRect l="1374" r="541"/>
          <a:stretch>
            <a:fillRect/>
          </a:stretch>
        </p:blipFill>
        <p:spPr>
          <a:xfrm>
            <a:off x="1383030" y="1904400"/>
            <a:ext cx="2160000" cy="2876400"/>
          </a:xfrm>
          <a:prstGeom prst="roundRect">
            <a:avLst/>
          </a:prstGeom>
          <a:gradFill>
            <a:gsLst>
              <a:gs pos="0">
                <a:srgbClr val="BDBCBC"/>
              </a:gs>
              <a:gs pos="100000">
                <a:srgbClr val="DCDCDC"/>
              </a:gs>
            </a:gsLst>
            <a:lin ang="5400000" scaled="0"/>
          </a:gradFill>
        </p:spPr>
      </p:pic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740428" y="4809600"/>
            <a:ext cx="3443064" cy="1000174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2400" b="1" kern="0">
                <a:solidFill>
                  <a:srgbClr val="0F4C95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郭任博  教授</a:t>
            </a:r>
            <a:endParaRPr lang="zh-CN" altLang="en-US" sz="2800" b="1" kern="0">
              <a:solidFill>
                <a:srgbClr val="0F4C95"/>
              </a:solidFill>
              <a:effectLst/>
              <a:latin typeface="微软雅黑" panose="020B0503020204020204" charset="-122"/>
              <a:ea typeface="微软雅黑" panose="020B0503020204020204" charset="-122"/>
              <a:cs typeface="Arial" panose="020B0604020202020204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800" b="1" kern="0">
                <a:solidFill>
                  <a:srgbClr val="0F4C95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山东省</a:t>
            </a:r>
            <a:r>
              <a:rPr lang="zh-CN" altLang="en-US" sz="1800" b="1" kern="0">
                <a:solidFill>
                  <a:srgbClr val="0F4C95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肿瘤医院</a:t>
            </a:r>
            <a:endParaRPr lang="zh-CN" altLang="en-US" sz="1800" b="1" kern="0" dirty="0">
              <a:solidFill>
                <a:srgbClr val="0F4C95"/>
              </a:solidFill>
              <a:effectLst/>
              <a:latin typeface="微软雅黑" panose="020B0503020204020204" charset="-122"/>
              <a:ea typeface="微软雅黑" panose="020B0503020204020204" charset="-122"/>
              <a:cs typeface="Arial" panose="020B0604020202020204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文本框 23"/>
          <p:cNvSpPr txBox="1"/>
          <p:nvPr/>
        </p:nvSpPr>
        <p:spPr>
          <a:xfrm>
            <a:off x="0" y="2089150"/>
            <a:ext cx="12192000" cy="1062355"/>
          </a:xfrm>
          <a:prstGeom prst="rect">
            <a:avLst/>
          </a:prstGeom>
          <a:noFill/>
        </p:spPr>
        <p:txBody>
          <a:bodyPr wrap="square" rtlCol="0" anchor="ctr" anchorCtr="0">
            <a:noAutofit/>
            <a:scene3d>
              <a:camera prst="orthographicFront"/>
              <a:lightRig rig="threePt" dir="t"/>
            </a:scene3d>
          </a:bodyPr>
          <a:lstStyle/>
          <a:p>
            <a:pPr algn="ctr" eaLnBrk="1" hangingPunct="1">
              <a:lnSpc>
                <a:spcPct val="100000"/>
              </a:lnSpc>
              <a:defRPr/>
            </a:pPr>
            <a:r>
              <a:rPr kumimoji="1" lang="zh-CN" altLang="en-US" sz="7200" b="1" dirty="0">
                <a:solidFill>
                  <a:srgbClr val="0F4C9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讨</a:t>
            </a:r>
            <a:r>
              <a:rPr kumimoji="1" lang="en-US" altLang="zh-CN" sz="7200" b="1" dirty="0">
                <a:solidFill>
                  <a:srgbClr val="0F4C9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kumimoji="1" lang="zh-CN" altLang="en-US" sz="7200" b="1" dirty="0">
                <a:solidFill>
                  <a:srgbClr val="0F4C9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论</a:t>
            </a:r>
            <a:r>
              <a:rPr kumimoji="1" lang="en-US" altLang="zh-CN" sz="7200" b="1" dirty="0">
                <a:solidFill>
                  <a:srgbClr val="0F4C9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kumimoji="1" lang="zh-CN" altLang="en-US" sz="7200" b="1" dirty="0">
                <a:solidFill>
                  <a:srgbClr val="0F4C9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环</a:t>
            </a:r>
            <a:r>
              <a:rPr kumimoji="1" lang="en-US" altLang="zh-CN" sz="7200" b="1" dirty="0">
                <a:solidFill>
                  <a:srgbClr val="0F4C9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kumimoji="1" lang="zh-CN" altLang="en-US" sz="7200" b="1" dirty="0">
                <a:solidFill>
                  <a:srgbClr val="0F4C9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节</a:t>
            </a:r>
            <a:endParaRPr kumimoji="1" lang="zh-CN" altLang="en-US" sz="7200" b="1" dirty="0">
              <a:solidFill>
                <a:srgbClr val="0F4C9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3463290" y="3818890"/>
            <a:ext cx="5265420" cy="1383665"/>
          </a:xfrm>
          <a:prstGeom prst="rect">
            <a:avLst/>
          </a:prstGeom>
          <a:noFill/>
          <a:ln>
            <a:noFill/>
          </a:ln>
        </p:spPr>
        <p:txBody>
          <a:bodyPr vert="horz" wrap="square" rtlCol="0" anchor="ctr" anchorCtr="0">
            <a:spAutoFit/>
            <a:scene3d>
              <a:camera prst="orthographicFront"/>
              <a:lightRig rig="threePt" dir="t"/>
            </a:scene3d>
          </a:bodyPr>
          <a:lstStyle/>
          <a:p>
            <a:pPr indent="0" algn="l" eaLnBrk="1" fontAlgn="ctr" latinLnBrk="0" hangingPunct="1">
              <a:lnSpc>
                <a:spcPct val="150000"/>
              </a:lnSpc>
              <a:buNone/>
            </a:pPr>
            <a:r>
              <a:rPr lang="zh-CN" altLang="en-US" sz="2800" b="1">
                <a:solidFill>
                  <a:srgbClr val="0F4C95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杨秀婷 </a:t>
            </a:r>
            <a:r>
              <a:rPr lang="en-US" altLang="zh-CN" sz="2800" b="1">
                <a:solidFill>
                  <a:srgbClr val="0F4C95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2800" b="1">
                <a:solidFill>
                  <a:srgbClr val="0F4C95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教授</a:t>
            </a:r>
            <a:r>
              <a:rPr lang="en-US" altLang="zh-CN" sz="2800" b="1">
                <a:solidFill>
                  <a:srgbClr val="0F4C95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  </a:t>
            </a:r>
            <a:r>
              <a:rPr lang="zh-CN" altLang="en-US" sz="2800" b="1">
                <a:solidFill>
                  <a:srgbClr val="0F4C95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山东大学</a:t>
            </a:r>
            <a:r>
              <a:rPr lang="zh-CN" altLang="en-US" sz="2800" b="1">
                <a:solidFill>
                  <a:srgbClr val="0F4C95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齐鲁医院</a:t>
            </a:r>
            <a:endParaRPr lang="zh-CN" altLang="en-US" sz="2800" b="1">
              <a:solidFill>
                <a:srgbClr val="0F4C95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 algn="l" eaLnBrk="1" fontAlgn="ctr" latinLnBrk="0" hangingPunct="1">
              <a:lnSpc>
                <a:spcPct val="150000"/>
              </a:lnSpc>
              <a:buNone/>
            </a:pPr>
            <a:r>
              <a:rPr kumimoji="1" lang="zh-CN" altLang="en-US" sz="2800" b="1" dirty="0">
                <a:ln w="12700">
                  <a:noFill/>
                  <a:prstDash val="solid"/>
                </a:ln>
                <a:solidFill>
                  <a:srgbClr val="0F4C95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崔景利</a:t>
            </a:r>
            <a:r>
              <a:rPr kumimoji="1" lang="en-US" altLang="zh-CN" sz="2800" b="1" dirty="0">
                <a:ln w="12700">
                  <a:noFill/>
                  <a:prstDash val="solid"/>
                </a:ln>
                <a:solidFill>
                  <a:srgbClr val="0F4C95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</a:t>
            </a:r>
            <a:r>
              <a:rPr kumimoji="1" lang="zh-CN" altLang="en-US" sz="2800" b="1" dirty="0">
                <a:ln w="12700">
                  <a:noFill/>
                  <a:prstDash val="solid"/>
                </a:ln>
                <a:solidFill>
                  <a:srgbClr val="0F4C95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教授</a:t>
            </a:r>
            <a:r>
              <a:rPr kumimoji="1" lang="en-US" altLang="zh-CN" sz="2800" b="1" dirty="0">
                <a:ln w="12700">
                  <a:noFill/>
                  <a:prstDash val="solid"/>
                </a:ln>
                <a:solidFill>
                  <a:srgbClr val="0F4C95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</a:t>
            </a:r>
            <a:r>
              <a:rPr kumimoji="1" lang="zh-CN" altLang="en-US" sz="2800" b="1" dirty="0">
                <a:ln w="12700">
                  <a:noFill/>
                  <a:prstDash val="solid"/>
                </a:ln>
                <a:solidFill>
                  <a:srgbClr val="0F4C95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山东省肿瘤医</a:t>
            </a:r>
            <a:r>
              <a:rPr kumimoji="1" lang="zh-CN" altLang="en-US" sz="2800" b="1" dirty="0">
                <a:ln w="12700">
                  <a:noFill/>
                  <a:prstDash val="solid"/>
                </a:ln>
                <a:solidFill>
                  <a:srgbClr val="0F4C95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院</a:t>
            </a:r>
            <a:endParaRPr kumimoji="1" lang="zh-CN" altLang="en-US" sz="2800" b="1" dirty="0">
              <a:ln w="12700">
                <a:noFill/>
                <a:prstDash val="solid"/>
              </a:ln>
              <a:solidFill>
                <a:srgbClr val="0F4C95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8" name="文本框 27"/>
          <p:cNvSpPr txBox="1"/>
          <p:nvPr userDrawn="1"/>
        </p:nvSpPr>
        <p:spPr>
          <a:xfrm>
            <a:off x="1489710" y="368935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None/>
            </a:pPr>
            <a:r>
              <a:rPr lang="zh-CN" altLang="en-US" sz="2400" b="1" spc="200">
                <a:ln w="12700" cmpd="sng">
                  <a:noFill/>
                  <a:prstDash val="solid"/>
                </a:ln>
                <a:solidFill>
                  <a:schemeClr val="accent5">
                    <a:lumMod val="50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2026临床营养规范诊疗系列学术交流会</a:t>
            </a:r>
            <a:endParaRPr lang="zh-CN" altLang="en-US" sz="2400" b="1" spc="200">
              <a:ln w="12700" cmpd="sng">
                <a:noFill/>
                <a:prstDash val="solid"/>
              </a:ln>
              <a:solidFill>
                <a:schemeClr val="accent5">
                  <a:lumMod val="50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29" name="图片 28" descr="1a46d48293b873f8213336feae26401a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77825" y="123825"/>
            <a:ext cx="969645" cy="95059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文本框 27"/>
          <p:cNvSpPr txBox="1"/>
          <p:nvPr userDrawn="1"/>
        </p:nvSpPr>
        <p:spPr>
          <a:xfrm>
            <a:off x="1489710" y="368935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None/>
            </a:pPr>
            <a:r>
              <a:rPr lang="zh-CN" altLang="en-US" sz="2400" b="1" spc="200">
                <a:ln w="12700" cmpd="sng">
                  <a:noFill/>
                  <a:prstDash val="solid"/>
                </a:ln>
                <a:solidFill>
                  <a:schemeClr val="accent5">
                    <a:lumMod val="50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2026临床营养规范诊疗系列学术交流会</a:t>
            </a:r>
            <a:endParaRPr lang="zh-CN" altLang="en-US" sz="2400" b="1" spc="200">
              <a:ln w="12700" cmpd="sng">
                <a:noFill/>
                <a:prstDash val="solid"/>
              </a:ln>
              <a:solidFill>
                <a:schemeClr val="accent5">
                  <a:lumMod val="50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29" name="图片 28" descr="1a46d48293b873f8213336feae26401a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77825" y="123825"/>
            <a:ext cx="969645" cy="950595"/>
          </a:xfrm>
          <a:prstGeom prst="rect">
            <a:avLst/>
          </a:prstGeom>
        </p:spPr>
      </p:pic>
      <p:sp>
        <p:nvSpPr>
          <p:cNvPr id="4" name="矩形: 圆角 11"/>
          <p:cNvSpPr/>
          <p:nvPr/>
        </p:nvSpPr>
        <p:spPr>
          <a:xfrm>
            <a:off x="1726480" y="1288268"/>
            <a:ext cx="1470959" cy="358623"/>
          </a:xfrm>
          <a:prstGeom prst="roundRect">
            <a:avLst>
              <a:gd name="adj" fmla="val 20014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讨论嘉宾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408170" y="1699895"/>
            <a:ext cx="7524750" cy="40309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indent="0" fontAlgn="auto">
              <a:lnSpc>
                <a:spcPct val="200000"/>
              </a:lnSpc>
            </a:pPr>
            <a:r>
              <a:rPr lang="zh-CN" altLang="en-US" sz="1600" b="1" kern="0" noProof="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山东第一医科大学附属省立医院血液科，副主任医师</a:t>
            </a:r>
            <a:endParaRPr lang="zh-CN" altLang="en-US" sz="1600" b="1" kern="0" noProof="0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200000"/>
              </a:lnSpc>
            </a:pPr>
            <a:r>
              <a:rPr lang="zh-CN" altLang="en-US" sz="1600" b="1" kern="0" noProof="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医学博士，硕士研究生导师</a:t>
            </a:r>
            <a:endParaRPr lang="zh-CN" altLang="en-US" sz="1600" b="1" kern="0" noProof="0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200000"/>
              </a:lnSpc>
            </a:pPr>
            <a:r>
              <a:rPr lang="zh-CN" altLang="en-US" sz="1600" b="1" kern="0" noProof="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山东省研究型医院学会血液病分会副主任委员</a:t>
            </a:r>
            <a:endParaRPr lang="zh-CN" altLang="en-US" sz="1600" b="1" kern="0" noProof="0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200000"/>
              </a:lnSpc>
            </a:pPr>
            <a:r>
              <a:rPr lang="zh-CN" altLang="en-US" sz="1600" b="1" kern="0" noProof="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山东临床肿瘤学会抗白血病专委会</a:t>
            </a:r>
            <a:r>
              <a:rPr lang="en-US" altLang="zh-CN" sz="1600" b="1" kern="0" noProof="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MDN/MPN</a:t>
            </a:r>
            <a:r>
              <a:rPr lang="zh-CN" altLang="en-US" sz="1600" b="1" kern="0" noProof="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学组副组长 </a:t>
            </a:r>
            <a:endParaRPr lang="zh-CN" altLang="en-US" sz="1600" b="1" kern="0" noProof="0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200000"/>
              </a:lnSpc>
            </a:pPr>
            <a:r>
              <a:rPr lang="zh-CN" altLang="en-US" sz="1600" b="1" kern="0" noProof="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山东省医师协会血液学分会委员</a:t>
            </a:r>
            <a:endParaRPr lang="zh-CN" altLang="en-US" sz="1600" b="1" kern="0" noProof="0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200000"/>
              </a:lnSpc>
            </a:pPr>
            <a:r>
              <a:rPr lang="zh-CN" altLang="en-US" sz="1600" b="1" kern="0" noProof="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中国抗癌协会中西医结合分会委员</a:t>
            </a:r>
            <a:endParaRPr lang="zh-CN" altLang="en-US" sz="1600" b="1" kern="0" noProof="0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200000"/>
              </a:lnSpc>
            </a:pPr>
            <a:r>
              <a:rPr lang="zh-CN" altLang="en-US" sz="1600" b="1" kern="0" noProof="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中国初级卫生保健基金会血液病学专业委员会委员</a:t>
            </a:r>
            <a:endParaRPr lang="en-US" altLang="zh-CN" sz="1600" b="1" kern="0" noProof="0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200000"/>
              </a:lnSpc>
            </a:pPr>
            <a:r>
              <a:rPr lang="zh-CN" altLang="en-US" sz="1600" b="1" kern="0" noProof="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中国医药教育协会</a:t>
            </a:r>
            <a:r>
              <a:rPr lang="en-US" altLang="zh-CN" sz="1600" b="1" kern="0" noProof="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MDS/MPN</a:t>
            </a:r>
            <a:r>
              <a:rPr lang="zh-CN" altLang="en-US" sz="1600" b="1" kern="0" noProof="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分会委员</a:t>
            </a:r>
            <a:endParaRPr lang="zh-CN" altLang="en-US" sz="1600" b="1" kern="0" noProof="0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12" name="IM 2" descr="C:/Users/Administrator/Desktop/9.7费卡 郝风阳/专家照片/4-杨秀婷.png4-杨秀婷"/>
          <p:cNvPicPr/>
          <p:nvPr/>
        </p:nvPicPr>
        <p:blipFill>
          <a:blip r:embed="rId3"/>
          <a:srcRect b="11335"/>
          <a:stretch>
            <a:fillRect/>
          </a:stretch>
        </p:blipFill>
        <p:spPr>
          <a:xfrm>
            <a:off x="1383030" y="1904400"/>
            <a:ext cx="2160000" cy="2876400"/>
          </a:xfrm>
          <a:prstGeom prst="roundRect">
            <a:avLst/>
          </a:prstGeom>
          <a:gradFill>
            <a:gsLst>
              <a:gs pos="0">
                <a:srgbClr val="BDBCBC"/>
              </a:gs>
              <a:gs pos="100000">
                <a:srgbClr val="DCDCDC"/>
              </a:gs>
            </a:gsLst>
            <a:lin ang="5400000" scaled="0"/>
          </a:gradFill>
        </p:spPr>
      </p:pic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740428" y="4809600"/>
            <a:ext cx="3443064" cy="1000174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2400" b="1" kern="0">
                <a:solidFill>
                  <a:srgbClr val="0F4C95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杨秀婷  教授</a:t>
            </a:r>
            <a:endParaRPr lang="zh-CN" altLang="en-US" sz="2800" b="1" kern="0">
              <a:solidFill>
                <a:srgbClr val="0F4C95"/>
              </a:solidFill>
              <a:effectLst/>
              <a:latin typeface="微软雅黑" panose="020B0503020204020204" charset="-122"/>
              <a:ea typeface="微软雅黑" panose="020B0503020204020204" charset="-122"/>
              <a:cs typeface="Arial" panose="020B0604020202020204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800" b="1" kern="0">
                <a:solidFill>
                  <a:srgbClr val="0F4C95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山东大学</a:t>
            </a:r>
            <a:r>
              <a:rPr lang="zh-CN" altLang="en-US" sz="1800" b="1" kern="0">
                <a:solidFill>
                  <a:srgbClr val="0F4C95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齐鲁医院</a:t>
            </a:r>
            <a:endParaRPr lang="zh-CN" altLang="en-US" sz="1800" b="1" kern="0" dirty="0">
              <a:solidFill>
                <a:srgbClr val="0F4C95"/>
              </a:solidFill>
              <a:effectLst/>
              <a:latin typeface="微软雅黑" panose="020B0503020204020204" charset="-122"/>
              <a:ea typeface="微软雅黑" panose="020B0503020204020204" charset="-122"/>
              <a:cs typeface="Arial" panose="020B0604020202020204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文本框 27"/>
          <p:cNvSpPr txBox="1"/>
          <p:nvPr userDrawn="1"/>
        </p:nvSpPr>
        <p:spPr>
          <a:xfrm>
            <a:off x="1489710" y="368935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None/>
            </a:pPr>
            <a:r>
              <a:rPr lang="zh-CN" altLang="en-US" sz="2400" b="1" spc="200">
                <a:ln w="12700" cmpd="sng">
                  <a:noFill/>
                  <a:prstDash val="solid"/>
                </a:ln>
                <a:solidFill>
                  <a:schemeClr val="accent5">
                    <a:lumMod val="50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2026临床营养规范诊疗系列学术交流会</a:t>
            </a:r>
            <a:endParaRPr lang="zh-CN" altLang="en-US" sz="2400" b="1" spc="200">
              <a:ln w="12700" cmpd="sng">
                <a:noFill/>
                <a:prstDash val="solid"/>
              </a:ln>
              <a:solidFill>
                <a:schemeClr val="accent5">
                  <a:lumMod val="50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29" name="图片 28" descr="1a46d48293b873f8213336feae26401a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77825" y="123825"/>
            <a:ext cx="969645" cy="950595"/>
          </a:xfrm>
          <a:prstGeom prst="rect">
            <a:avLst/>
          </a:prstGeom>
        </p:spPr>
      </p:pic>
      <p:sp>
        <p:nvSpPr>
          <p:cNvPr id="4" name="矩形: 圆角 11"/>
          <p:cNvSpPr/>
          <p:nvPr/>
        </p:nvSpPr>
        <p:spPr>
          <a:xfrm>
            <a:off x="1726480" y="1288268"/>
            <a:ext cx="1470959" cy="358623"/>
          </a:xfrm>
          <a:prstGeom prst="roundRect">
            <a:avLst>
              <a:gd name="adj" fmla="val 20014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讨论嘉宾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408170" y="1699895"/>
            <a:ext cx="7524750" cy="40309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indent="0" fontAlgn="auto">
              <a:lnSpc>
                <a:spcPct val="200000"/>
              </a:lnSpc>
            </a:pPr>
            <a:r>
              <a:rPr lang="zh-CN" altLang="en-US" sz="1600" b="1" kern="0" noProof="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山东第一医科大学附属省立医院血液科，副主任医师</a:t>
            </a:r>
            <a:endParaRPr lang="zh-CN" altLang="en-US" sz="1600" b="1" kern="0" noProof="0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200000"/>
              </a:lnSpc>
            </a:pPr>
            <a:r>
              <a:rPr lang="zh-CN" altLang="en-US" sz="1600" b="1" kern="0" noProof="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医学博士，硕士研究生导师</a:t>
            </a:r>
            <a:endParaRPr lang="zh-CN" altLang="en-US" sz="1600" b="1" kern="0" noProof="0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200000"/>
              </a:lnSpc>
            </a:pPr>
            <a:r>
              <a:rPr lang="zh-CN" altLang="en-US" sz="1600" b="1" kern="0" noProof="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山东省研究型医院学会血液病分会副主任委员</a:t>
            </a:r>
            <a:endParaRPr lang="zh-CN" altLang="en-US" sz="1600" b="1" kern="0" noProof="0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200000"/>
              </a:lnSpc>
            </a:pPr>
            <a:r>
              <a:rPr lang="zh-CN" altLang="en-US" sz="1600" b="1" kern="0" noProof="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山东临床肿瘤学会抗白血病专委会</a:t>
            </a:r>
            <a:r>
              <a:rPr lang="en-US" altLang="zh-CN" sz="1600" b="1" kern="0" noProof="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MDN/MPN</a:t>
            </a:r>
            <a:r>
              <a:rPr lang="zh-CN" altLang="en-US" sz="1600" b="1" kern="0" noProof="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学组副组长 </a:t>
            </a:r>
            <a:endParaRPr lang="zh-CN" altLang="en-US" sz="1600" b="1" kern="0" noProof="0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200000"/>
              </a:lnSpc>
            </a:pPr>
            <a:r>
              <a:rPr lang="zh-CN" altLang="en-US" sz="1600" b="1" kern="0" noProof="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山东省医师协会血液学分会委员</a:t>
            </a:r>
            <a:endParaRPr lang="zh-CN" altLang="en-US" sz="1600" b="1" kern="0" noProof="0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200000"/>
              </a:lnSpc>
            </a:pPr>
            <a:r>
              <a:rPr lang="zh-CN" altLang="en-US" sz="1600" b="1" kern="0" noProof="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中国抗癌协会中西医结合分会委员</a:t>
            </a:r>
            <a:endParaRPr lang="zh-CN" altLang="en-US" sz="1600" b="1" kern="0" noProof="0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200000"/>
              </a:lnSpc>
            </a:pPr>
            <a:r>
              <a:rPr lang="zh-CN" altLang="en-US" sz="1600" b="1" kern="0" noProof="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中国初级卫生保健基金会血液病学专业委员会委员</a:t>
            </a:r>
            <a:endParaRPr lang="en-US" altLang="zh-CN" sz="1600" b="1" kern="0" noProof="0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200000"/>
              </a:lnSpc>
            </a:pPr>
            <a:r>
              <a:rPr lang="zh-CN" altLang="en-US" sz="1600" b="1" kern="0" noProof="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中国医药教育协会</a:t>
            </a:r>
            <a:r>
              <a:rPr lang="en-US" altLang="zh-CN" sz="1600" b="1" kern="0" noProof="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MDS/MPN</a:t>
            </a:r>
            <a:r>
              <a:rPr lang="zh-CN" altLang="en-US" sz="1600" b="1" kern="0" noProof="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分会委员</a:t>
            </a:r>
            <a:endParaRPr lang="zh-CN" altLang="en-US" sz="1600" b="1" kern="0" noProof="0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12" name="IM 2" descr="C:/Users/Administrator/Desktop/9.7费卡 郝风阳/专家照片/5-崔景利.png5-崔景利"/>
          <p:cNvPicPr/>
          <p:nvPr/>
        </p:nvPicPr>
        <p:blipFill>
          <a:blip r:embed="rId3"/>
          <a:srcRect l="2481" r="2481"/>
          <a:stretch>
            <a:fillRect/>
          </a:stretch>
        </p:blipFill>
        <p:spPr>
          <a:xfrm>
            <a:off x="1383030" y="1904400"/>
            <a:ext cx="2160000" cy="2876400"/>
          </a:xfrm>
          <a:prstGeom prst="roundRect">
            <a:avLst/>
          </a:prstGeom>
          <a:gradFill>
            <a:gsLst>
              <a:gs pos="0">
                <a:srgbClr val="BDBCBC"/>
              </a:gs>
              <a:gs pos="100000">
                <a:srgbClr val="DCDCDC"/>
              </a:gs>
            </a:gsLst>
            <a:lin ang="5400000" scaled="0"/>
          </a:gradFill>
        </p:spPr>
      </p:pic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740428" y="4809600"/>
            <a:ext cx="3443064" cy="1000174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2400" b="1" kern="0">
                <a:solidFill>
                  <a:srgbClr val="0F4C95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崔景利  教授</a:t>
            </a:r>
            <a:endParaRPr lang="zh-CN" altLang="en-US" sz="2800" b="1" kern="0">
              <a:solidFill>
                <a:srgbClr val="0F4C95"/>
              </a:solidFill>
              <a:effectLst/>
              <a:latin typeface="微软雅黑" panose="020B0503020204020204" charset="-122"/>
              <a:ea typeface="微软雅黑" panose="020B0503020204020204" charset="-122"/>
              <a:cs typeface="Arial" panose="020B0604020202020204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800" b="1" kern="0">
                <a:solidFill>
                  <a:srgbClr val="0F4C95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山东省</a:t>
            </a:r>
            <a:r>
              <a:rPr lang="zh-CN" altLang="en-US" sz="1800" b="1" kern="0">
                <a:solidFill>
                  <a:srgbClr val="0F4C95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肿瘤医院</a:t>
            </a:r>
            <a:endParaRPr lang="zh-CN" altLang="en-US" sz="1800" b="1" kern="0" dirty="0">
              <a:solidFill>
                <a:srgbClr val="0F4C95"/>
              </a:solidFill>
              <a:effectLst/>
              <a:latin typeface="微软雅黑" panose="020B0503020204020204" charset="-122"/>
              <a:ea typeface="微软雅黑" panose="020B0503020204020204" charset="-122"/>
              <a:cs typeface="Arial" panose="020B0604020202020204"/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文本框 27"/>
          <p:cNvSpPr txBox="1"/>
          <p:nvPr userDrawn="1"/>
        </p:nvSpPr>
        <p:spPr>
          <a:xfrm>
            <a:off x="1489710" y="368935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None/>
            </a:pPr>
            <a:r>
              <a:rPr lang="zh-CN" altLang="en-US" sz="2400" b="1" spc="200">
                <a:ln w="12700" cmpd="sng">
                  <a:noFill/>
                  <a:prstDash val="solid"/>
                </a:ln>
                <a:solidFill>
                  <a:schemeClr val="accent5">
                    <a:lumMod val="50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2026临床营养规范诊疗系列学术交流会</a:t>
            </a:r>
            <a:endParaRPr lang="zh-CN" altLang="en-US" sz="2400" b="1" spc="200">
              <a:ln w="12700" cmpd="sng">
                <a:noFill/>
                <a:prstDash val="solid"/>
              </a:ln>
              <a:solidFill>
                <a:schemeClr val="accent5">
                  <a:lumMod val="50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29" name="图片 28" descr="1a46d48293b873f8213336feae26401a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77825" y="123825"/>
            <a:ext cx="969645" cy="950595"/>
          </a:xfrm>
          <a:prstGeom prst="rect">
            <a:avLst/>
          </a:prstGeom>
        </p:spPr>
      </p:pic>
      <p:sp>
        <p:nvSpPr>
          <p:cNvPr id="4" name="矩形: 圆角 11"/>
          <p:cNvSpPr/>
          <p:nvPr/>
        </p:nvSpPr>
        <p:spPr>
          <a:xfrm>
            <a:off x="1726480" y="1288268"/>
            <a:ext cx="1470959" cy="358623"/>
          </a:xfrm>
          <a:prstGeom prst="roundRect">
            <a:avLst>
              <a:gd name="adj" fmla="val 20014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大会主持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408170" y="1699895"/>
            <a:ext cx="7524750" cy="40309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indent="0" fontAlgn="auto">
              <a:lnSpc>
                <a:spcPct val="200000"/>
              </a:lnSpc>
            </a:pPr>
            <a:r>
              <a:rPr lang="zh-CN" altLang="en-US" sz="1600" b="1" kern="0" noProof="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山东第一医科大学附属省立医院血液科，副主任医师</a:t>
            </a:r>
            <a:endParaRPr lang="zh-CN" altLang="en-US" sz="1600" b="1" kern="0" noProof="0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200000"/>
              </a:lnSpc>
            </a:pPr>
            <a:r>
              <a:rPr lang="zh-CN" altLang="en-US" sz="1600" b="1" kern="0" noProof="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医学博士，硕士研究生导师</a:t>
            </a:r>
            <a:endParaRPr lang="zh-CN" altLang="en-US" sz="1600" b="1" kern="0" noProof="0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200000"/>
              </a:lnSpc>
            </a:pPr>
            <a:r>
              <a:rPr lang="zh-CN" altLang="en-US" sz="1600" b="1" kern="0" noProof="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山东省研究型医院学会血液病分会副主任委员</a:t>
            </a:r>
            <a:endParaRPr lang="zh-CN" altLang="en-US" sz="1600" b="1" kern="0" noProof="0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200000"/>
              </a:lnSpc>
            </a:pPr>
            <a:r>
              <a:rPr lang="zh-CN" altLang="en-US" sz="1600" b="1" kern="0" noProof="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山东临床肿瘤学会抗白血病专委会</a:t>
            </a:r>
            <a:r>
              <a:rPr lang="en-US" altLang="zh-CN" sz="1600" b="1" kern="0" noProof="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MDN/MPN</a:t>
            </a:r>
            <a:r>
              <a:rPr lang="zh-CN" altLang="en-US" sz="1600" b="1" kern="0" noProof="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学组副组长 </a:t>
            </a:r>
            <a:endParaRPr lang="zh-CN" altLang="en-US" sz="1600" b="1" kern="0" noProof="0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200000"/>
              </a:lnSpc>
            </a:pPr>
            <a:r>
              <a:rPr lang="zh-CN" altLang="en-US" sz="1600" b="1" kern="0" noProof="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山东省医师协会血液学分会委员</a:t>
            </a:r>
            <a:endParaRPr lang="zh-CN" altLang="en-US" sz="1600" b="1" kern="0" noProof="0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200000"/>
              </a:lnSpc>
            </a:pPr>
            <a:r>
              <a:rPr lang="zh-CN" altLang="en-US" sz="1600" b="1" kern="0" noProof="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中国抗癌协会中西医结合分会委员</a:t>
            </a:r>
            <a:endParaRPr lang="zh-CN" altLang="en-US" sz="1600" b="1" kern="0" noProof="0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200000"/>
              </a:lnSpc>
            </a:pPr>
            <a:r>
              <a:rPr lang="zh-CN" altLang="en-US" sz="1600" b="1" kern="0" noProof="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中国初级卫生保健基金会血液病学专业委员会委员</a:t>
            </a:r>
            <a:endParaRPr lang="en-US" altLang="zh-CN" sz="1600" b="1" kern="0" noProof="0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200000"/>
              </a:lnSpc>
            </a:pPr>
            <a:r>
              <a:rPr lang="zh-CN" altLang="en-US" sz="1600" b="1" kern="0" noProof="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中国医药教育协会</a:t>
            </a:r>
            <a:r>
              <a:rPr lang="en-US" altLang="zh-CN" sz="1600" b="1" kern="0" noProof="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MDS/MPN</a:t>
            </a:r>
            <a:r>
              <a:rPr lang="zh-CN" altLang="en-US" sz="1600" b="1" kern="0" noProof="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分会委员</a:t>
            </a:r>
            <a:endParaRPr lang="zh-CN" altLang="en-US" sz="1600" b="1" kern="0" noProof="0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12" name="IM 2" descr="C:/Users/Administrator/Desktop/9.7费卡 郝风阳/专家照片/6-赵传宗.png6-赵传宗"/>
          <p:cNvPicPr/>
          <p:nvPr/>
        </p:nvPicPr>
        <p:blipFill>
          <a:blip r:embed="rId3"/>
          <a:srcRect b="4956"/>
          <a:stretch>
            <a:fillRect/>
          </a:stretch>
        </p:blipFill>
        <p:spPr>
          <a:xfrm>
            <a:off x="1383030" y="1904400"/>
            <a:ext cx="2160000" cy="2876400"/>
          </a:xfrm>
          <a:prstGeom prst="roundRect">
            <a:avLst/>
          </a:prstGeom>
          <a:gradFill>
            <a:gsLst>
              <a:gs pos="0">
                <a:srgbClr val="BDBCBC"/>
              </a:gs>
              <a:gs pos="100000">
                <a:srgbClr val="DCDCDC"/>
              </a:gs>
            </a:gsLst>
            <a:lin ang="5400000" scaled="0"/>
          </a:gradFill>
        </p:spPr>
      </p:pic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740428" y="4809600"/>
            <a:ext cx="3443064" cy="1000174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2400" b="1" kern="0">
                <a:solidFill>
                  <a:srgbClr val="0F4C95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赵传宗  教授</a:t>
            </a:r>
            <a:endParaRPr lang="zh-CN" altLang="en-US" sz="2800" b="1" kern="0">
              <a:solidFill>
                <a:srgbClr val="0F4C95"/>
              </a:solidFill>
              <a:effectLst/>
              <a:latin typeface="微软雅黑" panose="020B0503020204020204" charset="-122"/>
              <a:ea typeface="微软雅黑" panose="020B0503020204020204" charset="-122"/>
              <a:cs typeface="Arial" panose="020B0604020202020204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800" b="1" kern="0">
                <a:solidFill>
                  <a:srgbClr val="0F4C95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山东大学</a:t>
            </a:r>
            <a:r>
              <a:rPr lang="zh-CN" altLang="en-US" sz="1800" b="1" kern="0">
                <a:solidFill>
                  <a:srgbClr val="0F4C95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齐鲁医院</a:t>
            </a:r>
            <a:endParaRPr lang="zh-CN" altLang="en-US" sz="1800" b="1" kern="0" dirty="0">
              <a:solidFill>
                <a:srgbClr val="0F4C95"/>
              </a:solidFill>
              <a:effectLst/>
              <a:latin typeface="微软雅黑" panose="020B0503020204020204" charset="-122"/>
              <a:ea typeface="微软雅黑" panose="020B0503020204020204" charset="-122"/>
              <a:cs typeface="Arial" panose="020B0604020202020204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文本框 23"/>
          <p:cNvSpPr txBox="1"/>
          <p:nvPr/>
        </p:nvSpPr>
        <p:spPr>
          <a:xfrm>
            <a:off x="0" y="2204720"/>
            <a:ext cx="12192000" cy="1062355"/>
          </a:xfrm>
          <a:prstGeom prst="rect">
            <a:avLst/>
          </a:prstGeom>
          <a:noFill/>
        </p:spPr>
        <p:txBody>
          <a:bodyPr wrap="square" rtlCol="0" anchor="ctr" anchorCtr="0">
            <a:noAutofit/>
            <a:scene3d>
              <a:camera prst="orthographicFront"/>
              <a:lightRig rig="threePt" dir="t"/>
            </a:scene3d>
          </a:bodyPr>
          <a:lstStyle/>
          <a:p>
            <a:pPr algn="ctr" eaLnBrk="1" hangingPunct="1">
              <a:lnSpc>
                <a:spcPct val="100000"/>
              </a:lnSpc>
              <a:defRPr/>
            </a:pPr>
            <a:r>
              <a:rPr kumimoji="1" lang="zh-CN" altLang="en-US" sz="4400" b="1" dirty="0">
                <a:solidFill>
                  <a:srgbClr val="0F4C9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鱼油脂肪乳剂临床应用中国专家共识（2022版）</a:t>
            </a:r>
            <a:endParaRPr kumimoji="1" lang="zh-CN" altLang="en-US" sz="44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solidFill>
                <a:srgbClr val="0F4C95"/>
              </a:solidFill>
              <a:effectLst>
                <a:innerShdw blurRad="177800">
                  <a:schemeClr val="accent3">
                    <a:lumMod val="50000"/>
                  </a:schemeClr>
                </a:inn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2965450" y="3429000"/>
            <a:ext cx="6261100" cy="737235"/>
          </a:xfrm>
          <a:prstGeom prst="rect">
            <a:avLst/>
          </a:prstGeom>
          <a:noFill/>
          <a:ln>
            <a:noFill/>
          </a:ln>
        </p:spPr>
        <p:txBody>
          <a:bodyPr vert="horz" wrap="square" rtlCol="0" anchor="ctr" anchorCtr="0">
            <a:spAutoFit/>
            <a:scene3d>
              <a:camera prst="orthographicFront"/>
              <a:lightRig rig="threePt" dir="t"/>
            </a:scene3d>
          </a:bodyPr>
          <a:lstStyle/>
          <a:p>
            <a:pPr indent="0" algn="ctr" fontAlgn="ctr">
              <a:lnSpc>
                <a:spcPct val="150000"/>
              </a:lnSpc>
              <a:buNone/>
            </a:pPr>
            <a:r>
              <a:rPr lang="zh-CN" altLang="en-US" sz="2800" b="1">
                <a:solidFill>
                  <a:srgbClr val="0F4C95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马</a:t>
            </a:r>
            <a:r>
              <a:rPr lang="zh-CN" altLang="en-US" sz="2800" b="1">
                <a:solidFill>
                  <a:srgbClr val="0F4C95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　</a:t>
            </a:r>
            <a:r>
              <a:rPr lang="zh-CN" altLang="en-US" sz="2800" b="1">
                <a:solidFill>
                  <a:srgbClr val="0F4C95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田 </a:t>
            </a:r>
            <a:r>
              <a:rPr lang="en-US" altLang="zh-CN" sz="2800" b="1">
                <a:solidFill>
                  <a:srgbClr val="0F4C95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2800" b="1">
                <a:solidFill>
                  <a:srgbClr val="0F4C95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教授</a:t>
            </a:r>
            <a:r>
              <a:rPr lang="en-US" altLang="zh-CN" sz="2800" b="1">
                <a:solidFill>
                  <a:srgbClr val="0F4C95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  </a:t>
            </a:r>
            <a:r>
              <a:rPr lang="zh-CN" altLang="en-US" sz="2800" b="1">
                <a:solidFill>
                  <a:srgbClr val="0F4C95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山东大学</a:t>
            </a:r>
            <a:r>
              <a:rPr lang="zh-CN" altLang="en-US" sz="2800" b="1">
                <a:solidFill>
                  <a:srgbClr val="0F4C95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齐鲁医院</a:t>
            </a:r>
            <a:endParaRPr kumimoji="1" lang="zh-CN" altLang="en-US" sz="2800" b="1" dirty="0">
              <a:ln w="12700">
                <a:noFill/>
                <a:prstDash val="solid"/>
              </a:ln>
              <a:solidFill>
                <a:srgbClr val="0F4C95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8" name="文本框 27"/>
          <p:cNvSpPr txBox="1"/>
          <p:nvPr userDrawn="1"/>
        </p:nvSpPr>
        <p:spPr>
          <a:xfrm>
            <a:off x="1489710" y="368935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None/>
            </a:pPr>
            <a:r>
              <a:rPr lang="zh-CN" altLang="en-US" sz="2400" b="1" spc="200">
                <a:ln w="12700" cmpd="sng">
                  <a:noFill/>
                  <a:prstDash val="solid"/>
                </a:ln>
                <a:solidFill>
                  <a:schemeClr val="accent5">
                    <a:lumMod val="50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2026临床营养规范诊疗系列学术交流会</a:t>
            </a:r>
            <a:endParaRPr lang="zh-CN" altLang="en-US" sz="2400" b="1" spc="200">
              <a:ln w="12700" cmpd="sng">
                <a:noFill/>
                <a:prstDash val="solid"/>
              </a:ln>
              <a:solidFill>
                <a:schemeClr val="accent5">
                  <a:lumMod val="50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29" name="图片 28" descr="1a46d48293b873f8213336feae26401a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77825" y="123825"/>
            <a:ext cx="969645" cy="95059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文本框 27"/>
          <p:cNvSpPr txBox="1"/>
          <p:nvPr userDrawn="1"/>
        </p:nvSpPr>
        <p:spPr>
          <a:xfrm>
            <a:off x="1489710" y="368935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None/>
            </a:pPr>
            <a:r>
              <a:rPr lang="zh-CN" altLang="en-US" sz="2400" b="1" spc="200">
                <a:ln w="12700" cmpd="sng">
                  <a:noFill/>
                  <a:prstDash val="solid"/>
                </a:ln>
                <a:solidFill>
                  <a:schemeClr val="accent5">
                    <a:lumMod val="50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2026临床营养规范诊疗系列学术交流会</a:t>
            </a:r>
            <a:endParaRPr lang="zh-CN" altLang="en-US" sz="2400" b="1" spc="200">
              <a:ln w="12700" cmpd="sng">
                <a:noFill/>
                <a:prstDash val="solid"/>
              </a:ln>
              <a:solidFill>
                <a:schemeClr val="accent5">
                  <a:lumMod val="50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29" name="图片 28" descr="1a46d48293b873f8213336feae26401a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77825" y="123825"/>
            <a:ext cx="969645" cy="950595"/>
          </a:xfrm>
          <a:prstGeom prst="rect">
            <a:avLst/>
          </a:prstGeom>
        </p:spPr>
      </p:pic>
      <p:sp>
        <p:nvSpPr>
          <p:cNvPr id="4" name="矩形: 圆角 11"/>
          <p:cNvSpPr/>
          <p:nvPr/>
        </p:nvSpPr>
        <p:spPr>
          <a:xfrm>
            <a:off x="1726480" y="1288268"/>
            <a:ext cx="1470959" cy="358623"/>
          </a:xfrm>
          <a:prstGeom prst="roundRect">
            <a:avLst>
              <a:gd name="adj" fmla="val 20014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大会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讲者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408170" y="1699895"/>
            <a:ext cx="7524750" cy="40309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indent="0" fontAlgn="auto">
              <a:lnSpc>
                <a:spcPct val="200000"/>
              </a:lnSpc>
            </a:pPr>
            <a:r>
              <a:rPr lang="zh-CN" altLang="en-US" sz="1600" b="1" kern="0" noProof="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山东第一医科大学附属省立医院血液科，副主任医师</a:t>
            </a:r>
            <a:endParaRPr lang="zh-CN" altLang="en-US" sz="1600" b="1" kern="0" noProof="0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200000"/>
              </a:lnSpc>
            </a:pPr>
            <a:r>
              <a:rPr lang="zh-CN" altLang="en-US" sz="1600" b="1" kern="0" noProof="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医学博士，硕士研究生导师</a:t>
            </a:r>
            <a:endParaRPr lang="zh-CN" altLang="en-US" sz="1600" b="1" kern="0" noProof="0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200000"/>
              </a:lnSpc>
            </a:pPr>
            <a:r>
              <a:rPr lang="zh-CN" altLang="en-US" sz="1600" b="1" kern="0" noProof="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山东省研究型医院学会血液病分会副主任委员</a:t>
            </a:r>
            <a:endParaRPr lang="zh-CN" altLang="en-US" sz="1600" b="1" kern="0" noProof="0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200000"/>
              </a:lnSpc>
            </a:pPr>
            <a:r>
              <a:rPr lang="zh-CN" altLang="en-US" sz="1600" b="1" kern="0" noProof="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山东临床肿瘤学会抗白血病专委会</a:t>
            </a:r>
            <a:r>
              <a:rPr lang="en-US" altLang="zh-CN" sz="1600" b="1" kern="0" noProof="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MDN/MPN</a:t>
            </a:r>
            <a:r>
              <a:rPr lang="zh-CN" altLang="en-US" sz="1600" b="1" kern="0" noProof="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学组副组长 </a:t>
            </a:r>
            <a:endParaRPr lang="zh-CN" altLang="en-US" sz="1600" b="1" kern="0" noProof="0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200000"/>
              </a:lnSpc>
            </a:pPr>
            <a:r>
              <a:rPr lang="zh-CN" altLang="en-US" sz="1600" b="1" kern="0" noProof="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山东省医师协会血液学分会委员</a:t>
            </a:r>
            <a:endParaRPr lang="zh-CN" altLang="en-US" sz="1600" b="1" kern="0" noProof="0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200000"/>
              </a:lnSpc>
            </a:pPr>
            <a:r>
              <a:rPr lang="zh-CN" altLang="en-US" sz="1600" b="1" kern="0" noProof="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中国抗癌协会中西医结合分会委员</a:t>
            </a:r>
            <a:endParaRPr lang="zh-CN" altLang="en-US" sz="1600" b="1" kern="0" noProof="0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200000"/>
              </a:lnSpc>
            </a:pPr>
            <a:r>
              <a:rPr lang="zh-CN" altLang="en-US" sz="1600" b="1" kern="0" noProof="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中国初级卫生保健基金会血液病学专业委员会委员</a:t>
            </a:r>
            <a:endParaRPr lang="en-US" altLang="zh-CN" sz="1600" b="1" kern="0" noProof="0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200000"/>
              </a:lnSpc>
            </a:pPr>
            <a:r>
              <a:rPr lang="zh-CN" altLang="en-US" sz="1600" b="1" kern="0" noProof="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中国医药教育协会</a:t>
            </a:r>
            <a:r>
              <a:rPr lang="en-US" altLang="zh-CN" sz="1600" b="1" kern="0" noProof="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MDS/MPN</a:t>
            </a:r>
            <a:r>
              <a:rPr lang="zh-CN" altLang="en-US" sz="1600" b="1" kern="0" noProof="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分会委员</a:t>
            </a:r>
            <a:endParaRPr lang="zh-CN" altLang="en-US" sz="1600" b="1" kern="0" noProof="0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12" name="IM 2" descr="C:/Users/Administrator/Desktop/9.7费卡 郝风阳/专家照片/7-马田.png7-马田"/>
          <p:cNvPicPr/>
          <p:nvPr/>
        </p:nvPicPr>
        <p:blipFill>
          <a:blip r:embed="rId3"/>
          <a:srcRect b="6867"/>
          <a:stretch>
            <a:fillRect/>
          </a:stretch>
        </p:blipFill>
        <p:spPr>
          <a:xfrm>
            <a:off x="1383030" y="1904400"/>
            <a:ext cx="2160000" cy="2876400"/>
          </a:xfrm>
          <a:prstGeom prst="roundRect">
            <a:avLst/>
          </a:prstGeom>
          <a:gradFill>
            <a:gsLst>
              <a:gs pos="0">
                <a:srgbClr val="BDBCBC"/>
              </a:gs>
              <a:gs pos="100000">
                <a:srgbClr val="DCDCDC"/>
              </a:gs>
            </a:gsLst>
            <a:lin ang="5400000" scaled="0"/>
          </a:gradFill>
        </p:spPr>
      </p:pic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740428" y="4809600"/>
            <a:ext cx="3443064" cy="1000174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2400" b="1" kern="0">
                <a:solidFill>
                  <a:srgbClr val="0F4C95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马</a:t>
            </a:r>
            <a:r>
              <a:rPr lang="zh-CN" altLang="en-US" sz="2400" b="1" kern="0">
                <a:solidFill>
                  <a:srgbClr val="0F4C95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Arial" panose="020B0604020202020204"/>
              </a:rPr>
              <a:t>　</a:t>
            </a:r>
            <a:r>
              <a:rPr lang="zh-CN" altLang="en-US" sz="2400" b="1" kern="0">
                <a:solidFill>
                  <a:srgbClr val="0F4C95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田  教授</a:t>
            </a:r>
            <a:endParaRPr lang="zh-CN" altLang="en-US" sz="2800" b="1" kern="0">
              <a:solidFill>
                <a:srgbClr val="0F4C95"/>
              </a:solidFill>
              <a:effectLst/>
              <a:latin typeface="微软雅黑" panose="020B0503020204020204" charset="-122"/>
              <a:ea typeface="微软雅黑" panose="020B0503020204020204" charset="-122"/>
              <a:cs typeface="Arial" panose="020B0604020202020204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800" b="1" kern="0">
                <a:solidFill>
                  <a:srgbClr val="0F4C95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山东大学</a:t>
            </a:r>
            <a:r>
              <a:rPr lang="zh-CN" altLang="en-US" sz="1800" b="1" kern="0">
                <a:solidFill>
                  <a:srgbClr val="0F4C95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齐鲁医院</a:t>
            </a:r>
            <a:endParaRPr lang="zh-CN" altLang="en-US" sz="1800" b="1" kern="0" dirty="0">
              <a:solidFill>
                <a:srgbClr val="0F4C95"/>
              </a:solidFill>
              <a:effectLst/>
              <a:latin typeface="微软雅黑" panose="020B0503020204020204" charset="-122"/>
              <a:ea typeface="微软雅黑" panose="020B0503020204020204" charset="-122"/>
              <a:cs typeface="Arial" panose="020B0604020202020204"/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文本框 23"/>
          <p:cNvSpPr txBox="1"/>
          <p:nvPr/>
        </p:nvSpPr>
        <p:spPr>
          <a:xfrm>
            <a:off x="0" y="2089150"/>
            <a:ext cx="12192000" cy="1062355"/>
          </a:xfrm>
          <a:prstGeom prst="rect">
            <a:avLst/>
          </a:prstGeom>
          <a:noFill/>
        </p:spPr>
        <p:txBody>
          <a:bodyPr wrap="square" rtlCol="0" anchor="ctr" anchorCtr="0">
            <a:noAutofit/>
            <a:scene3d>
              <a:camera prst="orthographicFront"/>
              <a:lightRig rig="threePt" dir="t"/>
            </a:scene3d>
          </a:bodyPr>
          <a:lstStyle/>
          <a:p>
            <a:pPr algn="ctr" eaLnBrk="1" hangingPunct="1">
              <a:lnSpc>
                <a:spcPct val="100000"/>
              </a:lnSpc>
              <a:defRPr/>
            </a:pPr>
            <a:r>
              <a:rPr kumimoji="1" lang="zh-CN" altLang="en-US" sz="7200" b="1" dirty="0">
                <a:solidFill>
                  <a:srgbClr val="0F4C9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讨</a:t>
            </a:r>
            <a:r>
              <a:rPr kumimoji="1" lang="en-US" altLang="zh-CN" sz="7200" b="1" dirty="0">
                <a:solidFill>
                  <a:srgbClr val="0F4C9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kumimoji="1" lang="zh-CN" altLang="en-US" sz="7200" b="1" dirty="0">
                <a:solidFill>
                  <a:srgbClr val="0F4C9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论</a:t>
            </a:r>
            <a:r>
              <a:rPr kumimoji="1" lang="en-US" altLang="zh-CN" sz="7200" b="1" dirty="0">
                <a:solidFill>
                  <a:srgbClr val="0F4C9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kumimoji="1" lang="zh-CN" altLang="en-US" sz="7200" b="1" dirty="0">
                <a:solidFill>
                  <a:srgbClr val="0F4C9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环</a:t>
            </a:r>
            <a:r>
              <a:rPr kumimoji="1" lang="en-US" altLang="zh-CN" sz="7200" b="1" dirty="0">
                <a:solidFill>
                  <a:srgbClr val="0F4C9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kumimoji="1" lang="zh-CN" altLang="en-US" sz="7200" b="1" dirty="0">
                <a:solidFill>
                  <a:srgbClr val="0F4C9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节</a:t>
            </a:r>
            <a:endParaRPr kumimoji="1" lang="zh-CN" altLang="en-US" sz="7200" b="1" dirty="0">
              <a:solidFill>
                <a:srgbClr val="0F4C9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3463290" y="3818890"/>
            <a:ext cx="5265420" cy="1383665"/>
          </a:xfrm>
          <a:prstGeom prst="rect">
            <a:avLst/>
          </a:prstGeom>
          <a:noFill/>
          <a:ln>
            <a:noFill/>
          </a:ln>
        </p:spPr>
        <p:txBody>
          <a:bodyPr vert="horz" wrap="square" rtlCol="0" anchor="ctr" anchorCtr="0">
            <a:spAutoFit/>
            <a:scene3d>
              <a:camera prst="orthographicFront"/>
              <a:lightRig rig="threePt" dir="t"/>
            </a:scene3d>
          </a:bodyPr>
          <a:lstStyle/>
          <a:p>
            <a:pPr indent="0" algn="l" eaLnBrk="1" fontAlgn="ctr" latinLnBrk="0" hangingPunct="1">
              <a:lnSpc>
                <a:spcPct val="150000"/>
              </a:lnSpc>
              <a:buNone/>
            </a:pPr>
            <a:r>
              <a:rPr lang="zh-CN" altLang="en-US" sz="2800" b="1">
                <a:solidFill>
                  <a:srgbClr val="0F4C95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李</a:t>
            </a:r>
            <a:r>
              <a:rPr lang="zh-CN" altLang="en-US" sz="2800" b="1">
                <a:solidFill>
                  <a:srgbClr val="0F4C95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　</a:t>
            </a:r>
            <a:r>
              <a:rPr lang="zh-CN" altLang="en-US" sz="2800" b="1">
                <a:solidFill>
                  <a:srgbClr val="0F4C95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磊 </a:t>
            </a:r>
            <a:r>
              <a:rPr lang="en-US" altLang="zh-CN" sz="2800" b="1">
                <a:solidFill>
                  <a:srgbClr val="0F4C95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2800" b="1">
                <a:solidFill>
                  <a:srgbClr val="0F4C95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教授</a:t>
            </a:r>
            <a:r>
              <a:rPr lang="en-US" altLang="zh-CN" sz="2800" b="1">
                <a:solidFill>
                  <a:srgbClr val="0F4C95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  </a:t>
            </a:r>
            <a:r>
              <a:rPr lang="zh-CN" altLang="en-US" sz="2800" b="1">
                <a:solidFill>
                  <a:srgbClr val="0F4C95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单县中心医院</a:t>
            </a:r>
            <a:endParaRPr lang="zh-CN" altLang="en-US" sz="2800" b="1">
              <a:solidFill>
                <a:srgbClr val="0F4C95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 algn="l" eaLnBrk="1" fontAlgn="ctr" latinLnBrk="0" hangingPunct="1">
              <a:lnSpc>
                <a:spcPct val="150000"/>
              </a:lnSpc>
              <a:buNone/>
            </a:pPr>
            <a:r>
              <a:rPr kumimoji="1" lang="zh-CN" altLang="en-US" sz="2800" b="1" dirty="0">
                <a:ln w="12700">
                  <a:noFill/>
                  <a:prstDash val="solid"/>
                </a:ln>
                <a:solidFill>
                  <a:srgbClr val="0F4C95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朱</a:t>
            </a:r>
            <a:r>
              <a:rPr kumimoji="1" lang="zh-CN" altLang="en-US" sz="2800" b="1" dirty="0">
                <a:ln w="12700">
                  <a:noFill/>
                  <a:prstDash val="solid"/>
                </a:ln>
                <a:solidFill>
                  <a:srgbClr val="0F4C95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+mn-ea"/>
              </a:rPr>
              <a:t>　</a:t>
            </a:r>
            <a:r>
              <a:rPr kumimoji="1" lang="zh-CN" altLang="en-US" sz="2800" b="1" dirty="0">
                <a:ln w="12700">
                  <a:noFill/>
                  <a:prstDash val="solid"/>
                </a:ln>
                <a:solidFill>
                  <a:srgbClr val="0F4C95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帅</a:t>
            </a:r>
            <a:r>
              <a:rPr kumimoji="1" lang="en-US" altLang="zh-CN" sz="2800" b="1" dirty="0">
                <a:ln w="12700">
                  <a:noFill/>
                  <a:prstDash val="solid"/>
                </a:ln>
                <a:solidFill>
                  <a:srgbClr val="0F4C95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</a:t>
            </a:r>
            <a:r>
              <a:rPr kumimoji="1" lang="zh-CN" altLang="en-US" sz="2800" b="1" dirty="0">
                <a:ln w="12700">
                  <a:noFill/>
                  <a:prstDash val="solid"/>
                </a:ln>
                <a:solidFill>
                  <a:srgbClr val="0F4C95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教授</a:t>
            </a:r>
            <a:r>
              <a:rPr kumimoji="1" lang="en-US" altLang="zh-CN" sz="2800" b="1" dirty="0">
                <a:ln w="12700">
                  <a:noFill/>
                  <a:prstDash val="solid"/>
                </a:ln>
                <a:solidFill>
                  <a:srgbClr val="0F4C95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</a:t>
            </a:r>
            <a:r>
              <a:rPr kumimoji="1" lang="zh-CN" altLang="en-US" sz="2800" b="1" dirty="0">
                <a:ln w="12700">
                  <a:noFill/>
                  <a:prstDash val="solid"/>
                </a:ln>
                <a:solidFill>
                  <a:srgbClr val="0F4C95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山东大学</a:t>
            </a:r>
            <a:r>
              <a:rPr kumimoji="1" lang="zh-CN" altLang="en-US" sz="2800" b="1" dirty="0">
                <a:ln w="12700">
                  <a:noFill/>
                  <a:prstDash val="solid"/>
                </a:ln>
                <a:solidFill>
                  <a:srgbClr val="0F4C95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齐鲁医</a:t>
            </a:r>
            <a:r>
              <a:rPr kumimoji="1" lang="zh-CN" altLang="en-US" sz="2800" b="1" dirty="0">
                <a:ln w="12700">
                  <a:noFill/>
                  <a:prstDash val="solid"/>
                </a:ln>
                <a:solidFill>
                  <a:srgbClr val="0F4C95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院</a:t>
            </a:r>
            <a:endParaRPr kumimoji="1" lang="zh-CN" altLang="en-US" sz="2800" b="1" dirty="0">
              <a:ln w="12700">
                <a:noFill/>
                <a:prstDash val="solid"/>
              </a:ln>
              <a:solidFill>
                <a:srgbClr val="0F4C95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8" name="文本框 27"/>
          <p:cNvSpPr txBox="1"/>
          <p:nvPr userDrawn="1"/>
        </p:nvSpPr>
        <p:spPr>
          <a:xfrm>
            <a:off x="1489710" y="368935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None/>
            </a:pPr>
            <a:r>
              <a:rPr lang="zh-CN" altLang="en-US" sz="2400" b="1" spc="200">
                <a:ln w="12700" cmpd="sng">
                  <a:noFill/>
                  <a:prstDash val="solid"/>
                </a:ln>
                <a:solidFill>
                  <a:schemeClr val="accent5">
                    <a:lumMod val="50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2026临床营养规范诊疗系列学术交流会</a:t>
            </a:r>
            <a:endParaRPr lang="zh-CN" altLang="en-US" sz="2400" b="1" spc="200">
              <a:ln w="12700" cmpd="sng">
                <a:noFill/>
                <a:prstDash val="solid"/>
              </a:ln>
              <a:solidFill>
                <a:schemeClr val="accent5">
                  <a:lumMod val="50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29" name="图片 28" descr="1a46d48293b873f8213336feae26401a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77825" y="123825"/>
            <a:ext cx="969645" cy="95059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文本框 27"/>
          <p:cNvSpPr txBox="1"/>
          <p:nvPr userDrawn="1"/>
        </p:nvSpPr>
        <p:spPr>
          <a:xfrm>
            <a:off x="1489710" y="368935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None/>
            </a:pPr>
            <a:r>
              <a:rPr lang="zh-CN" altLang="en-US" sz="2400" b="1" spc="200">
                <a:ln w="12700" cmpd="sng">
                  <a:noFill/>
                  <a:prstDash val="solid"/>
                </a:ln>
                <a:solidFill>
                  <a:schemeClr val="accent5">
                    <a:lumMod val="50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2026临床营养规范诊疗系列学术交流会</a:t>
            </a:r>
            <a:endParaRPr lang="zh-CN" altLang="en-US" sz="2400" b="1" spc="200">
              <a:ln w="12700" cmpd="sng">
                <a:noFill/>
                <a:prstDash val="solid"/>
              </a:ln>
              <a:solidFill>
                <a:schemeClr val="accent5">
                  <a:lumMod val="50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29" name="图片 28" descr="1a46d48293b873f8213336feae26401a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77825" y="123825"/>
            <a:ext cx="969645" cy="950595"/>
          </a:xfrm>
          <a:prstGeom prst="rect">
            <a:avLst/>
          </a:prstGeom>
        </p:spPr>
      </p:pic>
      <p:sp>
        <p:nvSpPr>
          <p:cNvPr id="4" name="矩形: 圆角 11"/>
          <p:cNvSpPr/>
          <p:nvPr/>
        </p:nvSpPr>
        <p:spPr>
          <a:xfrm>
            <a:off x="1726480" y="1288268"/>
            <a:ext cx="1470959" cy="358623"/>
          </a:xfrm>
          <a:prstGeom prst="roundRect">
            <a:avLst>
              <a:gd name="adj" fmla="val 20014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讨论嘉宾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408170" y="1699895"/>
            <a:ext cx="7524750" cy="40309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indent="0" fontAlgn="auto">
              <a:lnSpc>
                <a:spcPct val="200000"/>
              </a:lnSpc>
            </a:pPr>
            <a:r>
              <a:rPr lang="zh-CN" altLang="en-US" sz="1600" b="1" kern="0" noProof="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山东第一医科大学附属省立医院血液科，副主任医师</a:t>
            </a:r>
            <a:endParaRPr lang="zh-CN" altLang="en-US" sz="1600" b="1" kern="0" noProof="0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200000"/>
              </a:lnSpc>
            </a:pPr>
            <a:r>
              <a:rPr lang="zh-CN" altLang="en-US" sz="1600" b="1" kern="0" noProof="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医学博士，硕士研究生导师</a:t>
            </a:r>
            <a:endParaRPr lang="zh-CN" altLang="en-US" sz="1600" b="1" kern="0" noProof="0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200000"/>
              </a:lnSpc>
            </a:pPr>
            <a:r>
              <a:rPr lang="zh-CN" altLang="en-US" sz="1600" b="1" kern="0" noProof="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山东省研究型医院学会血液病分会副主任委员</a:t>
            </a:r>
            <a:endParaRPr lang="zh-CN" altLang="en-US" sz="1600" b="1" kern="0" noProof="0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200000"/>
              </a:lnSpc>
            </a:pPr>
            <a:r>
              <a:rPr lang="zh-CN" altLang="en-US" sz="1600" b="1" kern="0" noProof="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山东临床肿瘤学会抗白血病专委会</a:t>
            </a:r>
            <a:r>
              <a:rPr lang="en-US" altLang="zh-CN" sz="1600" b="1" kern="0" noProof="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MDN/MPN</a:t>
            </a:r>
            <a:r>
              <a:rPr lang="zh-CN" altLang="en-US" sz="1600" b="1" kern="0" noProof="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学组副组长 </a:t>
            </a:r>
            <a:endParaRPr lang="zh-CN" altLang="en-US" sz="1600" b="1" kern="0" noProof="0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200000"/>
              </a:lnSpc>
            </a:pPr>
            <a:r>
              <a:rPr lang="zh-CN" altLang="en-US" sz="1600" b="1" kern="0" noProof="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山东省医师协会血液学分会委员</a:t>
            </a:r>
            <a:endParaRPr lang="zh-CN" altLang="en-US" sz="1600" b="1" kern="0" noProof="0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200000"/>
              </a:lnSpc>
            </a:pPr>
            <a:r>
              <a:rPr lang="zh-CN" altLang="en-US" sz="1600" b="1" kern="0" noProof="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中国抗癌协会中西医结合分会委员</a:t>
            </a:r>
            <a:endParaRPr lang="zh-CN" altLang="en-US" sz="1600" b="1" kern="0" noProof="0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200000"/>
              </a:lnSpc>
            </a:pPr>
            <a:r>
              <a:rPr lang="zh-CN" altLang="en-US" sz="1600" b="1" kern="0" noProof="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中国初级卫生保健基金会血液病学专业委员会委员</a:t>
            </a:r>
            <a:endParaRPr lang="en-US" altLang="zh-CN" sz="1600" b="1" kern="0" noProof="0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200000"/>
              </a:lnSpc>
            </a:pPr>
            <a:r>
              <a:rPr lang="zh-CN" altLang="en-US" sz="1600" b="1" kern="0" noProof="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中国医药教育协会</a:t>
            </a:r>
            <a:r>
              <a:rPr lang="en-US" altLang="zh-CN" sz="1600" b="1" kern="0" noProof="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MDS/MPN</a:t>
            </a:r>
            <a:r>
              <a:rPr lang="zh-CN" altLang="en-US" sz="1600" b="1" kern="0" noProof="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分会委员</a:t>
            </a:r>
            <a:endParaRPr lang="zh-CN" altLang="en-US" sz="1600" b="1" kern="0" noProof="0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12" name="IM 2" descr="C:/Users/Administrator/Desktop/9.7费卡 郝风阳/专家照片/8-李磊.png8-李磊"/>
          <p:cNvPicPr/>
          <p:nvPr/>
        </p:nvPicPr>
        <p:blipFill>
          <a:blip r:embed="rId3"/>
          <a:srcRect l="12555" t="6445" r="14306" b="25110"/>
          <a:stretch>
            <a:fillRect/>
          </a:stretch>
        </p:blipFill>
        <p:spPr>
          <a:xfrm>
            <a:off x="1383030" y="1904400"/>
            <a:ext cx="2160000" cy="2876400"/>
          </a:xfrm>
          <a:prstGeom prst="roundRect">
            <a:avLst/>
          </a:prstGeom>
          <a:gradFill>
            <a:gsLst>
              <a:gs pos="0">
                <a:srgbClr val="BDBCBC"/>
              </a:gs>
              <a:gs pos="100000">
                <a:srgbClr val="DCDCDC"/>
              </a:gs>
            </a:gsLst>
            <a:lin ang="5400000" scaled="0"/>
          </a:gradFill>
        </p:spPr>
      </p:pic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740428" y="4809600"/>
            <a:ext cx="3443064" cy="1000174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2400" b="1" kern="0">
                <a:solidFill>
                  <a:srgbClr val="0F4C95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李</a:t>
            </a:r>
            <a:r>
              <a:rPr lang="zh-CN" altLang="en-US" sz="2400" b="1" kern="0">
                <a:solidFill>
                  <a:srgbClr val="0F4C95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Arial" panose="020B0604020202020204"/>
              </a:rPr>
              <a:t>　</a:t>
            </a:r>
            <a:r>
              <a:rPr lang="zh-CN" altLang="en-US" sz="2400" b="1" kern="0">
                <a:solidFill>
                  <a:srgbClr val="0F4C95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磊  教授</a:t>
            </a:r>
            <a:endParaRPr lang="zh-CN" altLang="en-US" sz="2800" b="1" kern="0">
              <a:solidFill>
                <a:srgbClr val="0F4C95"/>
              </a:solidFill>
              <a:effectLst/>
              <a:latin typeface="微软雅黑" panose="020B0503020204020204" charset="-122"/>
              <a:ea typeface="微软雅黑" panose="020B0503020204020204" charset="-122"/>
              <a:cs typeface="Arial" panose="020B0604020202020204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800" b="1" kern="0">
                <a:solidFill>
                  <a:srgbClr val="0F4C95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单县中心医院</a:t>
            </a:r>
            <a:endParaRPr lang="zh-CN" altLang="en-US" sz="1800" b="1" kern="0" dirty="0">
              <a:solidFill>
                <a:srgbClr val="0F4C95"/>
              </a:solidFill>
              <a:effectLst/>
              <a:latin typeface="微软雅黑" panose="020B0503020204020204" charset="-122"/>
              <a:ea typeface="微软雅黑" panose="020B0503020204020204" charset="-122"/>
              <a:cs typeface="Arial" panose="020B0604020202020204"/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文本框 27"/>
          <p:cNvSpPr txBox="1"/>
          <p:nvPr userDrawn="1"/>
        </p:nvSpPr>
        <p:spPr>
          <a:xfrm>
            <a:off x="1489710" y="368935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None/>
            </a:pPr>
            <a:r>
              <a:rPr lang="zh-CN" altLang="en-US" sz="2400" b="1" spc="200">
                <a:ln w="12700" cmpd="sng">
                  <a:noFill/>
                  <a:prstDash val="solid"/>
                </a:ln>
                <a:solidFill>
                  <a:schemeClr val="accent5">
                    <a:lumMod val="50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2026临床营养规范诊疗系列学术交流会</a:t>
            </a:r>
            <a:endParaRPr lang="zh-CN" altLang="en-US" sz="2400" b="1" spc="200">
              <a:ln w="12700" cmpd="sng">
                <a:noFill/>
                <a:prstDash val="solid"/>
              </a:ln>
              <a:solidFill>
                <a:schemeClr val="accent5">
                  <a:lumMod val="50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29" name="图片 28" descr="1a46d48293b873f8213336feae26401a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77825" y="123825"/>
            <a:ext cx="969645" cy="950595"/>
          </a:xfrm>
          <a:prstGeom prst="rect">
            <a:avLst/>
          </a:prstGeom>
        </p:spPr>
      </p:pic>
      <p:sp>
        <p:nvSpPr>
          <p:cNvPr id="4" name="矩形: 圆角 11"/>
          <p:cNvSpPr/>
          <p:nvPr/>
        </p:nvSpPr>
        <p:spPr>
          <a:xfrm>
            <a:off x="1726480" y="1288268"/>
            <a:ext cx="1470959" cy="358623"/>
          </a:xfrm>
          <a:prstGeom prst="roundRect">
            <a:avLst>
              <a:gd name="adj" fmla="val 20014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讨论嘉宾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408170" y="1699895"/>
            <a:ext cx="7524750" cy="40309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indent="0" fontAlgn="auto">
              <a:lnSpc>
                <a:spcPct val="200000"/>
              </a:lnSpc>
            </a:pPr>
            <a:r>
              <a:rPr lang="zh-CN" altLang="en-US" sz="1600" b="1" kern="0" noProof="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山东第一医科大学附属省立医院血液科，副主任医师</a:t>
            </a:r>
            <a:endParaRPr lang="zh-CN" altLang="en-US" sz="1600" b="1" kern="0" noProof="0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200000"/>
              </a:lnSpc>
            </a:pPr>
            <a:r>
              <a:rPr lang="zh-CN" altLang="en-US" sz="1600" b="1" kern="0" noProof="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医学博士，硕士研究生导师</a:t>
            </a:r>
            <a:endParaRPr lang="zh-CN" altLang="en-US" sz="1600" b="1" kern="0" noProof="0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200000"/>
              </a:lnSpc>
            </a:pPr>
            <a:r>
              <a:rPr lang="zh-CN" altLang="en-US" sz="1600" b="1" kern="0" noProof="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山东省研究型医院学会血液病分会副主任委员</a:t>
            </a:r>
            <a:endParaRPr lang="zh-CN" altLang="en-US" sz="1600" b="1" kern="0" noProof="0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200000"/>
              </a:lnSpc>
            </a:pPr>
            <a:r>
              <a:rPr lang="zh-CN" altLang="en-US" sz="1600" b="1" kern="0" noProof="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山东临床肿瘤学会抗白血病专委会</a:t>
            </a:r>
            <a:r>
              <a:rPr lang="en-US" altLang="zh-CN" sz="1600" b="1" kern="0" noProof="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MDN/MPN</a:t>
            </a:r>
            <a:r>
              <a:rPr lang="zh-CN" altLang="en-US" sz="1600" b="1" kern="0" noProof="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学组副组长 </a:t>
            </a:r>
            <a:endParaRPr lang="zh-CN" altLang="en-US" sz="1600" b="1" kern="0" noProof="0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200000"/>
              </a:lnSpc>
            </a:pPr>
            <a:r>
              <a:rPr lang="zh-CN" altLang="en-US" sz="1600" b="1" kern="0" noProof="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山东省医师协会血液学分会委员</a:t>
            </a:r>
            <a:endParaRPr lang="zh-CN" altLang="en-US" sz="1600" b="1" kern="0" noProof="0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200000"/>
              </a:lnSpc>
            </a:pPr>
            <a:r>
              <a:rPr lang="zh-CN" altLang="en-US" sz="1600" b="1" kern="0" noProof="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中国抗癌协会中西医结合分会委员</a:t>
            </a:r>
            <a:endParaRPr lang="zh-CN" altLang="en-US" sz="1600" b="1" kern="0" noProof="0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200000"/>
              </a:lnSpc>
            </a:pPr>
            <a:r>
              <a:rPr lang="zh-CN" altLang="en-US" sz="1600" b="1" kern="0" noProof="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中国初级卫生保健基金会血液病学专业委员会委员</a:t>
            </a:r>
            <a:endParaRPr lang="en-US" altLang="zh-CN" sz="1600" b="1" kern="0" noProof="0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200000"/>
              </a:lnSpc>
            </a:pPr>
            <a:r>
              <a:rPr lang="zh-CN" altLang="en-US" sz="1600" b="1" kern="0" noProof="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中国医药教育协会</a:t>
            </a:r>
            <a:r>
              <a:rPr lang="en-US" altLang="zh-CN" sz="1600" b="1" kern="0" noProof="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MDS/MPN</a:t>
            </a:r>
            <a:r>
              <a:rPr lang="zh-CN" altLang="en-US" sz="1600" b="1" kern="0" noProof="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分会委员</a:t>
            </a:r>
            <a:endParaRPr lang="zh-CN" altLang="en-US" sz="1600" b="1" kern="0" noProof="0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12" name="IM 2" descr="E:/桌面/Desktop/8.27 康哲 血液健康/专家照片/5-赵文博.png5-赵文博"/>
          <p:cNvPicPr/>
          <p:nvPr/>
        </p:nvPicPr>
        <p:blipFill>
          <a:blip r:embed="rId3"/>
          <a:srcRect b="958"/>
          <a:stretch>
            <a:fillRect/>
          </a:stretch>
        </p:blipFill>
        <p:spPr>
          <a:xfrm>
            <a:off x="1383030" y="1904400"/>
            <a:ext cx="2160000" cy="2876400"/>
          </a:xfrm>
          <a:prstGeom prst="roundRect">
            <a:avLst/>
          </a:prstGeom>
          <a:gradFill>
            <a:gsLst>
              <a:gs pos="0">
                <a:srgbClr val="BDBCBC"/>
              </a:gs>
              <a:gs pos="100000">
                <a:srgbClr val="DCDCDC"/>
              </a:gs>
            </a:gsLst>
            <a:lin ang="5400000" scaled="0"/>
          </a:gradFill>
        </p:spPr>
      </p:pic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740428" y="4809600"/>
            <a:ext cx="3443064" cy="1000174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2400" b="1" kern="0">
                <a:solidFill>
                  <a:srgbClr val="0F4C95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朱</a:t>
            </a:r>
            <a:r>
              <a:rPr lang="zh-CN" altLang="en-US" sz="2400" b="1" kern="0">
                <a:solidFill>
                  <a:srgbClr val="0F4C95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Arial" panose="020B0604020202020204"/>
              </a:rPr>
              <a:t>　</a:t>
            </a:r>
            <a:r>
              <a:rPr lang="zh-CN" altLang="en-US" sz="2400" b="1" kern="0">
                <a:solidFill>
                  <a:srgbClr val="0F4C95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帅  教授</a:t>
            </a:r>
            <a:endParaRPr lang="zh-CN" altLang="en-US" sz="2800" b="1" kern="0">
              <a:solidFill>
                <a:srgbClr val="0F4C95"/>
              </a:solidFill>
              <a:effectLst/>
              <a:latin typeface="微软雅黑" panose="020B0503020204020204" charset="-122"/>
              <a:ea typeface="微软雅黑" panose="020B0503020204020204" charset="-122"/>
              <a:cs typeface="Arial" panose="020B0604020202020204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800" b="1" kern="0">
                <a:solidFill>
                  <a:srgbClr val="0F4C95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山东大学</a:t>
            </a:r>
            <a:r>
              <a:rPr lang="zh-CN" altLang="en-US" sz="1800" b="1" kern="0">
                <a:solidFill>
                  <a:srgbClr val="0F4C95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齐鲁医院</a:t>
            </a:r>
            <a:endParaRPr lang="zh-CN" altLang="en-US" sz="1800" b="1" kern="0" dirty="0">
              <a:solidFill>
                <a:srgbClr val="0F4C95"/>
              </a:solidFill>
              <a:effectLst/>
              <a:latin typeface="微软雅黑" panose="020B0503020204020204" charset="-122"/>
              <a:ea typeface="微软雅黑" panose="020B0503020204020204" charset="-122"/>
              <a:cs typeface="Arial" panose="020B0604020202020204"/>
              <a:sym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文本框 23"/>
          <p:cNvSpPr txBox="1"/>
          <p:nvPr/>
        </p:nvSpPr>
        <p:spPr>
          <a:xfrm>
            <a:off x="0" y="2089150"/>
            <a:ext cx="12192000" cy="1062355"/>
          </a:xfrm>
          <a:prstGeom prst="rect">
            <a:avLst/>
          </a:prstGeom>
          <a:noFill/>
        </p:spPr>
        <p:txBody>
          <a:bodyPr wrap="square" rtlCol="0" anchor="ctr" anchorCtr="0">
            <a:noAutofit/>
            <a:scene3d>
              <a:camera prst="orthographicFront"/>
              <a:lightRig rig="threePt" dir="t"/>
            </a:scene3d>
          </a:bodyPr>
          <a:lstStyle/>
          <a:p>
            <a:pPr algn="ctr" eaLnBrk="1" hangingPunct="1">
              <a:lnSpc>
                <a:spcPct val="100000"/>
              </a:lnSpc>
              <a:defRPr/>
            </a:pPr>
            <a:r>
              <a:rPr kumimoji="1" lang="zh-CN" altLang="en-US" sz="7200" b="1" dirty="0">
                <a:solidFill>
                  <a:srgbClr val="0F4C9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会</a:t>
            </a:r>
            <a:r>
              <a:rPr kumimoji="1" lang="en-US" altLang="zh-CN" sz="7200" b="1" dirty="0">
                <a:solidFill>
                  <a:srgbClr val="0F4C9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kumimoji="1" lang="zh-CN" altLang="en-US" sz="7200" b="1" dirty="0">
                <a:solidFill>
                  <a:srgbClr val="0F4C9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议</a:t>
            </a:r>
            <a:r>
              <a:rPr kumimoji="1" lang="en-US" altLang="zh-CN" sz="7200" b="1" dirty="0">
                <a:solidFill>
                  <a:srgbClr val="0F4C9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kumimoji="1" lang="zh-CN" altLang="en-US" sz="7200" b="1" dirty="0">
                <a:solidFill>
                  <a:srgbClr val="0F4C9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总</a:t>
            </a:r>
            <a:r>
              <a:rPr kumimoji="1" lang="en-US" altLang="zh-CN" sz="7200" b="1" dirty="0">
                <a:solidFill>
                  <a:srgbClr val="0F4C9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kumimoji="1" lang="zh-CN" altLang="en-US" sz="7200" b="1" dirty="0">
                <a:solidFill>
                  <a:srgbClr val="0F4C9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结</a:t>
            </a:r>
            <a:endParaRPr kumimoji="1" lang="zh-CN" altLang="en-US" sz="7200" b="1" dirty="0">
              <a:solidFill>
                <a:srgbClr val="0F4C9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2965450" y="4142105"/>
            <a:ext cx="6261100" cy="737235"/>
          </a:xfrm>
          <a:prstGeom prst="rect">
            <a:avLst/>
          </a:prstGeom>
          <a:noFill/>
          <a:ln>
            <a:noFill/>
          </a:ln>
        </p:spPr>
        <p:txBody>
          <a:bodyPr vert="horz" wrap="square" rtlCol="0" anchor="ctr" anchorCtr="0">
            <a:spAutoFit/>
            <a:scene3d>
              <a:camera prst="orthographicFront"/>
              <a:lightRig rig="threePt" dir="t"/>
            </a:scene3d>
          </a:bodyPr>
          <a:lstStyle/>
          <a:p>
            <a:pPr indent="0" algn="ctr" fontAlgn="ctr">
              <a:lnSpc>
                <a:spcPct val="150000"/>
              </a:lnSpc>
              <a:buNone/>
            </a:pPr>
            <a:r>
              <a:rPr lang="zh-CN" altLang="en-US" sz="2800" b="1">
                <a:solidFill>
                  <a:srgbClr val="0F4C95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邹本奎 </a:t>
            </a:r>
            <a:r>
              <a:rPr lang="en-US" altLang="zh-CN" sz="2800" b="1">
                <a:solidFill>
                  <a:srgbClr val="0F4C95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2800" b="1">
                <a:solidFill>
                  <a:srgbClr val="0F4C95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教授</a:t>
            </a:r>
            <a:r>
              <a:rPr lang="en-US" altLang="zh-CN" sz="2800" b="1">
                <a:solidFill>
                  <a:srgbClr val="0F4C95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  </a:t>
            </a:r>
            <a:r>
              <a:rPr lang="zh-CN" altLang="en-US" sz="2800" b="1">
                <a:solidFill>
                  <a:srgbClr val="0F4C95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山东省肿瘤医院</a:t>
            </a:r>
            <a:endParaRPr kumimoji="1" lang="zh-CN" altLang="en-US" sz="2800" b="1" dirty="0">
              <a:ln w="12700">
                <a:noFill/>
                <a:prstDash val="solid"/>
              </a:ln>
              <a:solidFill>
                <a:srgbClr val="0F4C95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8" name="文本框 27"/>
          <p:cNvSpPr txBox="1"/>
          <p:nvPr userDrawn="1"/>
        </p:nvSpPr>
        <p:spPr>
          <a:xfrm>
            <a:off x="1489710" y="368935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None/>
            </a:pPr>
            <a:r>
              <a:rPr lang="zh-CN" altLang="en-US" sz="2400" b="1" spc="200">
                <a:ln w="12700" cmpd="sng">
                  <a:noFill/>
                  <a:prstDash val="solid"/>
                </a:ln>
                <a:solidFill>
                  <a:schemeClr val="accent5">
                    <a:lumMod val="50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2026临床营养规范诊疗系列学术交流会</a:t>
            </a:r>
            <a:endParaRPr lang="zh-CN" altLang="en-US" sz="2400" b="1" spc="200">
              <a:ln w="12700" cmpd="sng">
                <a:noFill/>
                <a:prstDash val="solid"/>
              </a:ln>
              <a:solidFill>
                <a:schemeClr val="accent5">
                  <a:lumMod val="50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29" name="图片 28" descr="1a46d48293b873f8213336feae26401a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77825" y="123825"/>
            <a:ext cx="969645" cy="95059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文本框 27"/>
          <p:cNvSpPr txBox="1"/>
          <p:nvPr userDrawn="1"/>
        </p:nvSpPr>
        <p:spPr>
          <a:xfrm>
            <a:off x="1489710" y="368935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None/>
            </a:pPr>
            <a:r>
              <a:rPr lang="zh-CN" altLang="en-US" sz="2400" b="1" spc="200">
                <a:ln w="12700" cmpd="sng">
                  <a:noFill/>
                  <a:prstDash val="solid"/>
                </a:ln>
                <a:solidFill>
                  <a:schemeClr val="accent5">
                    <a:lumMod val="50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2026临床营养规范诊疗系列学术交流会</a:t>
            </a:r>
            <a:endParaRPr lang="zh-CN" altLang="en-US" sz="2400" b="1" spc="200">
              <a:ln w="12700" cmpd="sng">
                <a:noFill/>
                <a:prstDash val="solid"/>
              </a:ln>
              <a:solidFill>
                <a:schemeClr val="accent5">
                  <a:lumMod val="50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29" name="图片 28" descr="1a46d48293b873f8213336feae26401a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77825" y="123825"/>
            <a:ext cx="969645" cy="950595"/>
          </a:xfrm>
          <a:prstGeom prst="rect">
            <a:avLst/>
          </a:prstGeom>
        </p:spPr>
      </p:pic>
      <p:sp>
        <p:nvSpPr>
          <p:cNvPr id="4" name="矩形: 圆角 11"/>
          <p:cNvSpPr/>
          <p:nvPr/>
        </p:nvSpPr>
        <p:spPr>
          <a:xfrm>
            <a:off x="1726480" y="1288268"/>
            <a:ext cx="1470959" cy="358623"/>
          </a:xfrm>
          <a:prstGeom prst="roundRect">
            <a:avLst>
              <a:gd name="adj" fmla="val 20014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大会主席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408170" y="1699895"/>
            <a:ext cx="7524750" cy="40309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indent="0" fontAlgn="auto">
              <a:lnSpc>
                <a:spcPct val="200000"/>
              </a:lnSpc>
            </a:pPr>
            <a:r>
              <a:rPr lang="zh-CN" altLang="en-US" sz="1600" b="1" kern="0" noProof="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山东第一医科大学附属省立医院血液科，副主任医师</a:t>
            </a:r>
            <a:endParaRPr lang="zh-CN" altLang="en-US" sz="1600" b="1" kern="0" noProof="0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200000"/>
              </a:lnSpc>
            </a:pPr>
            <a:r>
              <a:rPr lang="zh-CN" altLang="en-US" sz="1600" b="1" kern="0" noProof="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医学博士，硕士研究生导师</a:t>
            </a:r>
            <a:endParaRPr lang="zh-CN" altLang="en-US" sz="1600" b="1" kern="0" noProof="0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200000"/>
              </a:lnSpc>
            </a:pPr>
            <a:r>
              <a:rPr lang="zh-CN" altLang="en-US" sz="1600" b="1" kern="0" noProof="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山东省研究型医院学会血液病分会副主任委员</a:t>
            </a:r>
            <a:endParaRPr lang="zh-CN" altLang="en-US" sz="1600" b="1" kern="0" noProof="0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200000"/>
              </a:lnSpc>
            </a:pPr>
            <a:r>
              <a:rPr lang="zh-CN" altLang="en-US" sz="1600" b="1" kern="0" noProof="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山东临床肿瘤学会抗白血病专委会</a:t>
            </a:r>
            <a:r>
              <a:rPr lang="en-US" altLang="zh-CN" sz="1600" b="1" kern="0" noProof="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MDN/MPN</a:t>
            </a:r>
            <a:r>
              <a:rPr lang="zh-CN" altLang="en-US" sz="1600" b="1" kern="0" noProof="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学组副组长 </a:t>
            </a:r>
            <a:endParaRPr lang="zh-CN" altLang="en-US" sz="1600" b="1" kern="0" noProof="0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200000"/>
              </a:lnSpc>
            </a:pPr>
            <a:r>
              <a:rPr lang="zh-CN" altLang="en-US" sz="1600" b="1" kern="0" noProof="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山东省医师协会血液学分会委员</a:t>
            </a:r>
            <a:endParaRPr lang="zh-CN" altLang="en-US" sz="1600" b="1" kern="0" noProof="0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200000"/>
              </a:lnSpc>
            </a:pPr>
            <a:r>
              <a:rPr lang="zh-CN" altLang="en-US" sz="1600" b="1" kern="0" noProof="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中国抗癌协会中西医结合分会委员</a:t>
            </a:r>
            <a:endParaRPr lang="zh-CN" altLang="en-US" sz="1600" b="1" kern="0" noProof="0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200000"/>
              </a:lnSpc>
            </a:pPr>
            <a:r>
              <a:rPr lang="zh-CN" altLang="en-US" sz="1600" b="1" kern="0" noProof="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中国初级卫生保健基金会血液病学专业委员会委员</a:t>
            </a:r>
            <a:endParaRPr lang="en-US" altLang="zh-CN" sz="1600" b="1" kern="0" noProof="0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200000"/>
              </a:lnSpc>
            </a:pPr>
            <a:r>
              <a:rPr lang="zh-CN" altLang="en-US" sz="1600" b="1" kern="0" noProof="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中国医药教育协会</a:t>
            </a:r>
            <a:r>
              <a:rPr lang="en-US" altLang="zh-CN" sz="1600" b="1" kern="0" noProof="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MDS/MPN</a:t>
            </a:r>
            <a:r>
              <a:rPr lang="zh-CN" altLang="en-US" sz="1600" b="1" kern="0" noProof="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分会委员</a:t>
            </a:r>
            <a:endParaRPr lang="zh-CN" altLang="en-US" sz="1600" b="1" kern="0" noProof="0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1" name="Rectangle 2"/>
          <p:cNvSpPr txBox="1">
            <a:spLocks noChangeArrowheads="1"/>
          </p:cNvSpPr>
          <p:nvPr/>
        </p:nvSpPr>
        <p:spPr>
          <a:xfrm>
            <a:off x="740428" y="4809600"/>
            <a:ext cx="3443064" cy="1000174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2400" b="1" kern="0">
                <a:solidFill>
                  <a:srgbClr val="0F4C95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邹本奎  教授</a:t>
            </a:r>
            <a:endParaRPr lang="zh-CN" altLang="en-US" sz="2800" b="1" kern="0">
              <a:solidFill>
                <a:srgbClr val="0F4C95"/>
              </a:solidFill>
              <a:effectLst/>
              <a:latin typeface="微软雅黑" panose="020B0503020204020204" charset="-122"/>
              <a:ea typeface="微软雅黑" panose="020B0503020204020204" charset="-122"/>
              <a:cs typeface="Arial" panose="020B0604020202020204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800" b="1" kern="0">
                <a:solidFill>
                  <a:srgbClr val="0F4C95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山东省</a:t>
            </a:r>
            <a:r>
              <a:rPr lang="zh-CN" altLang="en-US" sz="1800" b="1" kern="0">
                <a:solidFill>
                  <a:srgbClr val="0F4C95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肿瘤医院</a:t>
            </a:r>
            <a:endParaRPr lang="zh-CN" altLang="en-US" sz="1800" b="1" kern="0" dirty="0">
              <a:solidFill>
                <a:srgbClr val="0F4C95"/>
              </a:solidFill>
              <a:effectLst/>
              <a:latin typeface="微软雅黑" panose="020B0503020204020204" charset="-122"/>
              <a:ea typeface="微软雅黑" panose="020B0503020204020204" charset="-122"/>
              <a:cs typeface="Arial" panose="020B0604020202020204"/>
              <a:sym typeface="+mn-ea"/>
            </a:endParaRPr>
          </a:p>
        </p:txBody>
      </p:sp>
      <p:pic>
        <p:nvPicPr>
          <p:cNvPr id="12" name="IM 2" descr="C:/Users/Administrator/Desktop/9.7费卡 郝风阳/专家照片/1-邹本奎.png1-邹本奎"/>
          <p:cNvPicPr/>
          <p:nvPr/>
        </p:nvPicPr>
        <p:blipFill>
          <a:blip r:embed="rId3"/>
          <a:srcRect l="956" r="1092"/>
          <a:stretch>
            <a:fillRect/>
          </a:stretch>
        </p:blipFill>
        <p:spPr>
          <a:xfrm>
            <a:off x="1383030" y="1904400"/>
            <a:ext cx="2160000" cy="2876400"/>
          </a:xfrm>
          <a:prstGeom prst="roundRect">
            <a:avLst/>
          </a:prstGeom>
          <a:gradFill>
            <a:gsLst>
              <a:gs pos="0">
                <a:srgbClr val="BDBCBC"/>
              </a:gs>
              <a:gs pos="100000">
                <a:srgbClr val="DCDCDC"/>
              </a:gs>
            </a:gsLst>
            <a:lin ang="5400000" scaled="0"/>
          </a:gradFill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文本框 7"/>
          <p:cNvSpPr txBox="1"/>
          <p:nvPr/>
        </p:nvSpPr>
        <p:spPr>
          <a:xfrm>
            <a:off x="1701483" y="1590882"/>
            <a:ext cx="8789035" cy="31997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 eaLnBrk="1" hangingPunct="1">
              <a:lnSpc>
                <a:spcPct val="150000"/>
              </a:lnSpc>
              <a:defRPr/>
            </a:pPr>
            <a:r>
              <a:rPr kumimoji="1" lang="zh-CN" altLang="en-US" sz="60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会</a:t>
            </a:r>
            <a:r>
              <a:rPr kumimoji="1" lang="en-US" altLang="zh-CN" sz="60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kumimoji="1" lang="zh-CN" altLang="en-US" sz="60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议</a:t>
            </a:r>
            <a:r>
              <a:rPr kumimoji="1" lang="en-US" altLang="zh-CN" sz="60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kumimoji="1" lang="zh-CN" altLang="en-US" sz="60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结</a:t>
            </a:r>
            <a:r>
              <a:rPr kumimoji="1" lang="en-US" altLang="zh-CN" sz="60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kumimoji="1" lang="zh-CN" altLang="en-US" sz="60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束</a:t>
            </a:r>
            <a:endParaRPr kumimoji="1" lang="zh-CN" altLang="en-US" sz="6000" b="1" dirty="0">
              <a:solidFill>
                <a:schemeClr val="accent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ctr" eaLnBrk="1" hangingPunct="1">
              <a:lnSpc>
                <a:spcPct val="150000"/>
              </a:lnSpc>
              <a:defRPr/>
            </a:pPr>
            <a:r>
              <a:rPr lang="zh-CN" altLang="en-US" sz="40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感</a:t>
            </a:r>
            <a:r>
              <a:rPr lang="zh-CN" altLang="zh-CN" sz="40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谢各位专家参与本次会议</a:t>
            </a:r>
            <a:endParaRPr lang="en-US" altLang="zh-CN" sz="4000" b="1" dirty="0">
              <a:solidFill>
                <a:schemeClr val="accent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 eaLnBrk="1" hangingPunct="1">
              <a:lnSpc>
                <a:spcPct val="130000"/>
              </a:lnSpc>
              <a:defRPr/>
            </a:pPr>
            <a:r>
              <a:rPr lang="zh-CN" altLang="en-US" sz="40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恭祝大家身体健康！</a:t>
            </a:r>
            <a:endParaRPr lang="zh-CN" altLang="en-US" sz="5365" b="1" dirty="0">
              <a:solidFill>
                <a:schemeClr val="accent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8" name="文本框 27"/>
          <p:cNvSpPr txBox="1"/>
          <p:nvPr userDrawn="1"/>
        </p:nvSpPr>
        <p:spPr>
          <a:xfrm>
            <a:off x="1489710" y="368935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None/>
            </a:pPr>
            <a:r>
              <a:rPr lang="zh-CN" altLang="en-US" sz="2400" b="1" spc="200">
                <a:ln w="12700" cmpd="sng">
                  <a:noFill/>
                  <a:prstDash val="solid"/>
                </a:ln>
                <a:solidFill>
                  <a:schemeClr val="accent5">
                    <a:lumMod val="50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2026临床营养规范诊疗系列学术交流会</a:t>
            </a:r>
            <a:endParaRPr lang="zh-CN" altLang="en-US" sz="2400" b="1" spc="200">
              <a:ln w="12700" cmpd="sng">
                <a:noFill/>
                <a:prstDash val="solid"/>
              </a:ln>
              <a:solidFill>
                <a:schemeClr val="accent5">
                  <a:lumMod val="50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29" name="图片 28" descr="1a46d48293b873f8213336feae26401a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77825" y="123825"/>
            <a:ext cx="969645" cy="95059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INDEX" val="5"/>
  <p:tag name="KSO_WM_UNIT_TEXT_SUBTYPE" val="a"/>
  <p:tag name="KSO_WM_UNIT_SUBTYPE" val="a"/>
  <p:tag name="KSO_WM_UNIT_TYPE" val="f"/>
  <p:tag name="KSO_WM_BEAUTIFY_FLAG" val="#wm#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5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6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4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7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8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9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12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13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14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15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16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17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2308</Words>
  <Application>WPS 演示</Application>
  <PresentationFormat/>
  <Paragraphs>209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18</vt:i4>
      </vt:variant>
      <vt:variant>
        <vt:lpstr>幻灯片标题</vt:lpstr>
      </vt:variant>
      <vt:variant>
        <vt:i4>18</vt:i4>
      </vt:variant>
    </vt:vector>
  </HeadingPairs>
  <TitlesOfParts>
    <vt:vector size="43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Office 主题​​</vt:lpstr>
      <vt:lpstr>默认主题</vt:lpstr>
      <vt:lpstr>1_默认主题</vt:lpstr>
      <vt:lpstr>2_默认主题</vt:lpstr>
      <vt:lpstr>3_默认主题</vt:lpstr>
      <vt:lpstr>5_默认主题</vt:lpstr>
      <vt:lpstr>6_默认主题</vt:lpstr>
      <vt:lpstr>4_默认主题</vt:lpstr>
      <vt:lpstr>7_默认主题</vt:lpstr>
      <vt:lpstr>8_默认主题</vt:lpstr>
      <vt:lpstr>9_默认主题</vt:lpstr>
      <vt:lpstr>11_默认主题</vt:lpstr>
      <vt:lpstr>12_默认主题</vt:lpstr>
      <vt:lpstr>13_默认主题</vt:lpstr>
      <vt:lpstr>14_默认主题</vt:lpstr>
      <vt:lpstr>15_默认主题</vt:lpstr>
      <vt:lpstr>16_默认主题</vt:lpstr>
      <vt:lpstr>17_默认主题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Believe.</cp:lastModifiedBy>
  <cp:revision>5</cp:revision>
  <dcterms:created xsi:type="dcterms:W3CDTF">2026-09-02T02:23:00Z</dcterms:created>
  <dcterms:modified xsi:type="dcterms:W3CDTF">2026-09-02T09:13:21Z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{"Label":"1","ContentProducer":"001191110102MACQD9K64010000","ProduceID":"7680753774311492577","ReservedCode1":"","ContentPropagator":"","PropagateID":"","ReservedCode2":""}</vt:lpwstr>
  </property>
  <property fmtid="{D5CDD505-2E9C-101B-9397-08002B2CF9AE}" pid="3" name="KSOProductBuildVer">
    <vt:lpwstr>2052-12.1.0.28505</vt:lpwstr>
  </property>
  <property fmtid="{D5CDD505-2E9C-101B-9397-08002B2CF9AE}" pid="4" name="ICV">
    <vt:lpwstr>56ECDC5B92BA45BBA7D07F197523D69D_13</vt:lpwstr>
  </property>
</Properties>
</file>